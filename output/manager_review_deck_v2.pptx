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410"/>
                </a:solidFill>
                <a:latin typeface="맑은 고딕"/>
              </a:rPr>
              <a:t>재무·시장 양쪽에서 동시에 압박받는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6760"/>
                </a:solidFill>
                <a:latin typeface="맑은 고딕"/>
              </a:rPr>
              <a:t>현금흐름 위기 + 한국 와인 시장 구조 변화가 나라셀라 강점 카테고리를 직격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11247120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삼일회계법인 AX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F6760"/>
                </a:solidFill>
                <a:latin typeface="맑은 고딕"/>
              </a:rPr>
              <a:t>1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253C"/>
                </a:solidFill>
                <a:latin typeface="맑은 고딕"/>
              </a:rPr>
              <a:t>재무적 압박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부채 316억 vs 현금 44억 — 7배 차이 · 이자 연 16억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2024 영업손실 -34억 (annual, 적자 전환) · 2025.3Q -2.3억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시총 1,288억 → 310억 (-76%) · IPO 공모가 -87%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재고보유일수 348일 (2022 215일 → +133일)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    - 미착상품 102억 (전체 재고의 25%)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    - 재고평가충당금 2.86억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외화부채 73억 (5% 변동 시 3.6억 손익, 수동 헤지)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매출채권 25.4억 (연체율 18.6%) · 대손 매년 +2억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자체 IT 시도 실패 — 1KMWINE 와인원 45억(목표 100억),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    물류센터 무기한 보류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253C"/>
                </a:solidFill>
                <a:latin typeface="맑은 고딕"/>
              </a:rPr>
              <a:t>한국 와인 시장 구조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수입량 -20.4% (2021 76,575t → 2024 56,542t)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카테고리 변화: 레드 69%→51%, 화이트 19%→34%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양극화 — 초고가 견조, 중간(3~10만) 급감,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    가성비는 편의점 흡수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편의점 와인 폭발 (디아블로 단일 200만병)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MZ 이탈: CU 하이볼 8.3%→38.6% (2022→2024)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D342D"/>
                </a:solidFill>
                <a:latin typeface="맑은 고딕"/>
              </a:rPr>
              <a:t>•     무알코올 +9%/yr (2030년까지)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148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F6760"/>
                </a:solidFill>
                <a:latin typeface="맑은 고딕"/>
              </a:rPr>
              <a:t>경쟁사 비교 (2024 영업이익)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3D342D"/>
                </a:solidFill>
                <a:latin typeface="맑은 고딕"/>
              </a:rPr>
              <a:t>• 신세계L&amp;B: -52억 (적자 전환)   · 금양: -82.5%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3D342D"/>
                </a:solidFill>
                <a:latin typeface="맑은 고딕"/>
              </a:rPr>
              <a:t>• 아영FBC: +40% (직영매장·고마진 — 유일한 영업익 ↑)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3D342D"/>
                </a:solidFill>
                <a:latin typeface="맑은 고딕"/>
              </a:rPr>
              <a:t>• 나라셀라: -34억 (적자 전환)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FBEEF1"/>
          </a:solidFill>
          <a:ln w="9525">
            <a:solidFill>
              <a:srgbClr val="9A25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A253C"/>
                </a:solidFill>
                <a:latin typeface="맑은 고딕"/>
              </a:rPr>
              <a:t>나라셀라 강점(레드 mid-premium)이 가장 약한 위치에 놓임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D342D"/>
                </a:solidFill>
                <a:latin typeface="맑은 고딕"/>
              </a:rPr>
              <a:t>외부 트렌드는 통제 불가 → 내부 의사결정 가시성·자동화·AI 매칭으로 turnaround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410"/>
                </a:solidFill>
                <a:latin typeface="맑은 고딕"/>
              </a:rPr>
              <a:t>포트폴리오 전체가 살아 있는 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6760"/>
                </a:solidFill>
                <a:latin typeface="맑은 고딕"/>
              </a:rPr>
              <a:t>AI Agent의 영역 — 영업사원의 머리로 풀 수 없는 조합 최적화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11247120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삼일회계법인 AX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F6760"/>
                </a:solidFill>
                <a:latin typeface="맑은 고딕"/>
              </a:rPr>
              <a:t>2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A253C"/>
                </a:solidFill>
                <a:latin typeface="맑은 고딕"/>
              </a:rPr>
              <a:t>1,955 SKU × 570 거래처 × 10+ 채널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D342D"/>
                </a:solidFill>
                <a:latin typeface="맑은 고딕"/>
              </a:rPr>
              <a:t>이 조합을 영업사원의 머리로 풀 수는 없습니다. 이건 AI Agent의 영역입니다.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587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6587" y="3154680"/>
            <a:ext cx="2651760" cy="54864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467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A65"/>
                </a:solidFill>
                <a:latin typeface="맑은 고딕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467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10"/>
                </a:solidFill>
                <a:latin typeface="맑은 고딕"/>
              </a:rPr>
              <a:t>Long Tail 소진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467" y="3931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342D"/>
                </a:solidFill>
                <a:latin typeface="맑은 고딕"/>
              </a:rPr>
              <a:t>비인기 SKU가 맞는 거래처에 연결
→ 재고보유일수 정상화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5507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75507" y="3154680"/>
            <a:ext cx="2651760" cy="54864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8387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A65"/>
                </a:solidFill>
                <a:latin typeface="맑은 고딕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8387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10"/>
                </a:solidFill>
                <a:latin typeface="맑은 고딕"/>
              </a:rPr>
              <a:t>거래처 차별화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8387" y="3931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342D"/>
                </a:solidFill>
                <a:latin typeface="맑은 고딕"/>
              </a:rPr>
              <a:t>"우리 매장에 맞는 와인을
추천받을 수 있다" 인식 확대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4427" y="3154680"/>
            <a:ext cx="2651760" cy="54864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7307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A65"/>
                </a:solidFill>
                <a:latin typeface="맑은 고딕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10"/>
                </a:solidFill>
                <a:latin typeface="맑은 고딕"/>
              </a:rPr>
              <a:t>얼로케이션 선순환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3931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342D"/>
                </a:solidFill>
                <a:latin typeface="맑은 고딕"/>
              </a:rPr>
              <a:t>"한국에서 잘 팔린다" → 와이너리
물량 확대 → 포트폴리오 강화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347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3347" y="3154680"/>
            <a:ext cx="2651760" cy="54864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6227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A65"/>
                </a:solidFill>
                <a:latin typeface="맑은 고딕"/>
              </a:rPr>
              <a:t>#4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6227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10"/>
                </a:solidFill>
                <a:latin typeface="맑은 고딕"/>
              </a:rPr>
              <a:t>상장 비전 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6227" y="3931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D342D"/>
                </a:solidFill>
                <a:latin typeface="맑은 고딕"/>
              </a:rPr>
              <a:t>인기 와인 + Long Tail
→ 매출 2,500억 경로 재활성화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10"/>
                </a:solidFill>
                <a:latin typeface="맑은 고딕"/>
              </a:rPr>
              <a:t>왜 이게 정량적으로 가능한가 — 자체 리서치 (PoC + 글로벌 트렌드)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5486400" cy="11887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740 SKU 외부 데이터 분석 (국가별 SKU vs 매출 gap)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5778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3D342D"/>
                </a:solidFill>
                <a:latin typeface="맑은 고딕"/>
              </a:rPr>
              <a:t>• 프랑스 +14.8%p — Long Tail 위험 #1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3D342D"/>
                </a:solidFill>
                <a:latin typeface="맑은 고딕"/>
              </a:rPr>
              <a:t>• 이탈리아 +8.4%p — #2 · 미국 -11%p — under-curated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3D342D"/>
                </a:solidFill>
                <a:latin typeface="맑은 고딕"/>
              </a:rPr>
              <a:t>• 큐레이션 mismatch가 정량으로 드러남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5212080"/>
            <a:ext cx="5486400" cy="11887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AI 도입 5단 효과 (단순 생산성 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5778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3D342D"/>
                </a:solidFill>
                <a:latin typeface="맑은 고딕"/>
              </a:rPr>
              <a:t>• Productivity · Decision Quality · Revenue Growth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3D342D"/>
                </a:solidFill>
                <a:latin typeface="맑은 고딕"/>
              </a:rPr>
              <a:t>• Risk Mitigation · Strategic Optionality (M&amp;A·얼로케이션)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3D342D"/>
                </a:solidFill>
                <a:latin typeface="맑은 고딕"/>
              </a:rPr>
              <a:t>• 글로벌 트렌드 정합 — AI 마케팅·1차 데이터·하이퍼 개인화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410"/>
                </a:solidFill>
                <a:latin typeface="맑은 고딕"/>
              </a:rPr>
              <a:t>5.5개월, 3 Phase — 운영 시스템까지 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6760"/>
                </a:solidFill>
                <a:latin typeface="맑은 고딕"/>
              </a:rPr>
              <a:t>거창한 DT 청사진이 아니라, 본 용역에서 우리가 만들어 인계할 시스템·산출물 단위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11247120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삼일회계법인 AX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F6760"/>
                </a:solidFill>
                <a:latin typeface="맑은 고딕"/>
              </a:rPr>
              <a:t>3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287" y="20116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2011680"/>
            <a:ext cx="3657600" cy="73152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253C"/>
                </a:solidFill>
                <a:latin typeface="맑은 고딕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0~6주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410"/>
                </a:solidFill>
                <a:latin typeface="맑은 고딕"/>
              </a:rPr>
              <a:t>PoC 본격 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3200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데이터 정제 — 1,613 active SKU × 570 거래처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Knowledge Graph 스키마·시드 (Neo4j)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이상 감지 + Alert 자동화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Root Cause AI Agent (LangGraph 4 노드)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운영 Dashboard 환경 이전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475488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B89A65"/>
                </a:solidFill>
                <a:latin typeface="맑은 고딕"/>
              </a:rPr>
              <a:t>산출물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D342D"/>
                </a:solidFill>
                <a:latin typeface="맑은 고딕"/>
              </a:rPr>
              <a:t>운영 시스템 (alpha) + 데이터 정제 매뉴얼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7047" y="20116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047" y="2011680"/>
            <a:ext cx="3657600" cy="73152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5647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253C"/>
                </a:solidFill>
                <a:latin typeface="맑은 고딕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47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6~14주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410"/>
                </a:solidFill>
                <a:latin typeface="맑은 고딕"/>
              </a:rPr>
              <a:t>핵심 자동화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3200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수요예측 모델 (SKU × 채널)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거래처 신용 스코링 모델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환리스크 자동 추적 + 헤지 알림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What-If 시뮬레이터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재무 보고서 자동화 (월/분기)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475488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B89A65"/>
                </a:solidFill>
                <a:latin typeface="맑은 고딕"/>
              </a:rPr>
              <a:t>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D342D"/>
                </a:solidFill>
                <a:latin typeface="맑은 고딕"/>
              </a:rPr>
              <a:t>자동화 모듈 + 운영 Runbook + 사용자 교육 1회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1807" y="20116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1807" y="2011680"/>
            <a:ext cx="3657600" cy="73152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0407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253C"/>
                </a:solidFill>
                <a:latin typeface="맑은 고딕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407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14~22주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407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410"/>
                </a:solidFill>
                <a:latin typeface="맑은 고딕"/>
              </a:rPr>
              <a:t>AI 추천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407" y="3200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거래처별 맞춤 와인 추천 모델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영업사원 미팅 브리핑 자동 생성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신규 SKU 론칭 최적화 시뮬레이션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와이너리 얼로케이션 협상 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0407" y="475488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B89A65"/>
                </a:solidFill>
                <a:latin typeface="맑은 고딕"/>
              </a:rPr>
              <a:t>산출물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0407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D342D"/>
                </a:solidFill>
                <a:latin typeface="맑은 고딕"/>
              </a:rPr>
              <a:t>AI 추천 시스템 + 영업 매뉴얼 + 12개월 운영 지원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32120"/>
            <a:ext cx="7315200" cy="86868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235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인력·체계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342D"/>
                </a:solidFill>
                <a:latin typeface="맑은 고딕"/>
              </a:rPr>
              <a:t>데이터 엔지니어 2 · AI 엔지니어 2 · 도메인 컨설턴트 1 · PM 1
격주 운영 위원회 · 월 1회 회장님 보고 (재무·운영 통합)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5532120"/>
            <a:ext cx="3776472" cy="868680"/>
          </a:xfrm>
          <a:prstGeom prst="roundRect">
            <a:avLst>
              <a:gd name="adj" fmla="val 5000"/>
            </a:avLst>
          </a:prstGeom>
          <a:solidFill>
            <a:srgbClr val="FBEEF1"/>
          </a:solidFill>
          <a:ln w="9525">
            <a:solidFill>
              <a:srgbClr val="9A25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56692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253C"/>
                </a:solidFill>
                <a:latin typeface="맑은 고딕"/>
              </a:rPr>
              <a:t>Phase 종료 시점마다
운영 가능한 시스템 인계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WHY AX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410"/>
                </a:solidFill>
                <a:latin typeface="맑은 고딕"/>
              </a:rPr>
              <a:t>디지털 전환을 회계법인이 — 왜 우리만 가능한가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6760"/>
                </a:solidFill>
                <a:latin typeface="맑은 고딕"/>
              </a:rPr>
              <a:t>같은 PoC를 다른 컨설팅펌도 만들 수 있지만, 회장님 언어로 IR을 데이터로 증명할 수 있는 곳은 삼일 AX Node뿐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11247120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F6760"/>
                </a:solidFill>
                <a:latin typeface="맑은 고딕"/>
              </a:rPr>
              <a:t>삼일회계법인 AX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F6760"/>
                </a:solidFill>
                <a:latin typeface="맑은 고딕"/>
              </a:rPr>
              <a:t>4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287" y="19659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1965960"/>
            <a:ext cx="3657600" cy="91440"/>
          </a:xfrm>
          <a:prstGeom prst="rect">
            <a:avLst/>
          </a:prstGeom>
          <a:solidFill>
            <a:srgbClr val="9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253C"/>
                </a:solidFill>
                <a:latin typeface="맑은 고딕"/>
              </a:rPr>
              <a:t>#1 —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2423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10"/>
                </a:solidFill>
                <a:latin typeface="맑은 고딕"/>
              </a:rPr>
              <a:t>재무 언어로 소통 가능한 유일 파트너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3017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마승철 회장 = 디아지오 본사·코리아 CFO 출신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사외이사 최범수 = 前 KB은행 부행장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회장님 IR 발언과 우리 효과 항목 1:1 매칭 (아래 표)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IT 펌이 못 하는 것 — CFO 언어로 IR을 데이터로 증명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047" y="19659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965960"/>
            <a:ext cx="3657600" cy="91440"/>
          </a:xfrm>
          <a:prstGeom prst="rect">
            <a:avLst/>
          </a:prstGeom>
          <a:solidFill>
            <a:srgbClr val="B8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5647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9A65"/>
                </a:solidFill>
                <a:latin typeface="맑은 고딕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647" y="2423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10"/>
                </a:solidFill>
                <a:latin typeface="맑은 고딕"/>
              </a:rPr>
              <a:t>사내 Sponsorship + 글로벌 PwC Wineries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017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이미 사내 제휴 등록 (2026 4~5월) — Trust 단계 통과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Constellation·Treasury 등 글로벌 와인 그룹 audit 경험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와이너리 얼로케이션 — 미·프·이 PwC member firms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글로벌 distributor KPI·운영 벤치마크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1807" y="19659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1807" y="1965960"/>
            <a:ext cx="3657600" cy="91440"/>
          </a:xfrm>
          <a:prstGeom prst="rect">
            <a:avLst/>
          </a:prstGeom>
          <a:solidFill>
            <a:srgbClr val="3D3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0407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D342D"/>
                </a:solidFill>
                <a:latin typeface="맑은 고딕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407" y="2423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10"/>
                </a:solidFill>
                <a:latin typeface="맑은 고딕"/>
              </a:rPr>
              <a:t>Audit × AX 통합 + 외부 파트너 수용 명분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407" y="3017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KOSDAQ 405920 상장사 — audit + AX 통합 (빅4 최강)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1KMWINE 자체 IT 실패 → 외부 파트너 수용 명분 확보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단순 SI가 아닌 재무 일체형 솔루션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3D342D"/>
                </a:solidFill>
                <a:latin typeface="맑은 고딕"/>
              </a:rPr>
              <a:t>• 아영FBC는 H/W로, 우리는 데이터·AI S/W로 같은 곳에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253C"/>
                </a:solidFill>
                <a:latin typeface="맑은 고딕"/>
              </a:rPr>
              <a:t>회장님 IR 발언 ↔ 본 용역 효과 1:1 매칭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466344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217920"/>
              </a:tblGrid>
              <a:tr h="310896">
                <a:tc>
                  <a:txBody>
                    <a:bodyPr wrap="square" lIns="137160" rIns="137160" tIns="36576" bIns="36576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회장님 IR 발언 (2025-03)</a:t>
                      </a:r>
                    </a:p>
                  </a:txBody>
                  <a:tcPr>
                    <a:solidFill>
                      <a:srgbClr val="9A253C"/>
                    </a:solidFill>
                  </a:tcPr>
                </a:tc>
                <a:tc>
                  <a:txBody>
                    <a:bodyPr wrap="square" lIns="137160" rIns="137160" tIns="36576" bIns="36576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본 용역의 직접 효과</a:t>
                      </a:r>
                    </a:p>
                  </a:txBody>
                  <a:tcPr>
                    <a:solidFill>
                      <a:srgbClr val="9A253C"/>
                    </a:solidFill>
                  </a:tcPr>
                </a:tc>
              </a:tr>
              <a:tr h="310896"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3D342D"/>
                          </a:solidFill>
                          <a:latin typeface="맑은 고딕"/>
                        </a:rPr>
                        <a:t>"발주 예산제·재고 선순환"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1A1410"/>
                          </a:solidFill>
                          <a:latin typeface="맑은 고딕"/>
                        </a:rPr>
                        <a:t>수요예측 모델 → 재고 348→250일 (100억 회수)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10896"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3D342D"/>
                          </a:solidFill>
                          <a:latin typeface="맑은 고딕"/>
                        </a:rPr>
                        <a:t>"판관비 개선"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1A1410"/>
                          </a:solidFill>
                          <a:latin typeface="맑은 고딕"/>
                        </a:rPr>
                        <a:t>IT 통합·자동화 → 운영비 ~30% 절감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3D342D"/>
                          </a:solidFill>
                          <a:latin typeface="맑은 고딕"/>
                        </a:rPr>
                        <a:t>"영업이익 턴어라운드"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1A1410"/>
                          </a:solidFill>
                          <a:latin typeface="맑은 고딕"/>
                        </a:rPr>
                        <a:t>비용절감 합계 연 7~10억 → 흑자 전환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10896"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3D342D"/>
                          </a:solidFill>
                          <a:latin typeface="맑은 고딕"/>
                        </a:rPr>
                        <a:t>"포트폴리오 균형"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36576" bIns="36576"/>
                    <a:lstStyle/>
                    <a:p>
                      <a:r>
                        <a:rPr sz="950" b="0">
                          <a:solidFill>
                            <a:srgbClr val="1A1410"/>
                          </a:solidFill>
                          <a:latin typeface="맑은 고딕"/>
                        </a:rPr>
                        <a:t>AI 추천 → Long Tail 매출 +5~10%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457200" y="6263640"/>
            <a:ext cx="11247120" cy="548640"/>
          </a:xfrm>
          <a:prstGeom prst="roundRect">
            <a:avLst>
              <a:gd name="adj" fmla="val 5000"/>
            </a:avLst>
          </a:prstGeom>
          <a:solidFill>
            <a:srgbClr val="9A253C"/>
          </a:solidFill>
          <a:ln w="9525">
            <a:solidFill>
              <a:srgbClr val="9A25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2764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회장님이 IR에서 말씀하시는 모든 키워드 — 발주 예산제·재고 선순환·판관비·턴어라운드 — 를 데이터로 증명할 수 있는 곳은 삼일 AX Node뿐.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