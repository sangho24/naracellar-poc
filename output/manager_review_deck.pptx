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cash flow 한 장입니다. 매니저님, 나라셀라 IR에서 가장 자주 등장하는 단어가 '재무구조 개선'이에요. 시장은 축소되고 있는데 재고는 늘고 있고, 그 재고를 떠받치느라 차입이자가 연 16억 나가는 구조입니다. 그런데 그 모든 원인이 결국 '데이터로 못 푸는 채널 사일로'라는 한 가지로 수렴한다는 게 우리 진단입니다. 수치 신뢰성에 대해 매니저님 본부에서 더 받을 수 있는 게 있는지 의견 듣고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매니저님이 가장 의견 주실 부분입니다. Phase 1만 6개월인 게 길어 보일 수 있는데, ERP 전환이 핵심이라 줄이기 어렵습니다. 다만 'effect가 언제 나오나'에 대한 답은 Phase 2 끝 무렵 흑자 전환이라는 게 우리 추정이고, 매니저님이 보시기에 이 timing이 client 입장에서 sellable한지, Phase 1을 5개월로 줄이는 옵션이 있는지 듣고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우리가 매니저님께 가장 자신 있게 보여드릴 수 있는 장입니다. 단순히 '매출 늘릴게요'가 아니라 '이미 새고 있는 돈을 막기만 해도 흑자 전환됩니다'라는 메시지입니다. Long Tail은 보너스로 두고, 매니저님 의견은 '이 절감 추정치들이 client 앞에서 방어 가능한 수준인지'를 듣고 싶습니다. 너무 보수적인지, 적정한지, 더 conservative하게 낮춰야 하는지.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2743200" cy="274320"/>
          </a:xfrm>
          <a:prstGeom prst="rect">
            <a:avLst/>
          </a:prstGeom>
          <a:noFill/>
        </p:spPr>
        <p:txBody>
          <a:bodyPr wrap="square">
            <a:spAutoFit/>
          </a:bodyPr>
          <a:lstStyle/>
          <a:p>
            <a:pPr algn="l"/>
            <a:r>
              <a:rPr sz="1100" b="1">
                <a:solidFill>
                  <a:srgbClr val="C0392B"/>
                </a:solidFill>
                <a:latin typeface="맑은 고딕"/>
              </a:rPr>
              <a:t>AS-IS</a:t>
            </a:r>
          </a:p>
        </p:txBody>
      </p:sp>
      <p:sp>
        <p:nvSpPr>
          <p:cNvPr id="3" name="TextBox 2"/>
          <p:cNvSpPr txBox="1"/>
          <p:nvPr/>
        </p:nvSpPr>
        <p:spPr>
          <a:xfrm>
            <a:off x="457200" y="594360"/>
            <a:ext cx="10972800" cy="640080"/>
          </a:xfrm>
          <a:prstGeom prst="rect">
            <a:avLst/>
          </a:prstGeom>
          <a:noFill/>
        </p:spPr>
        <p:txBody>
          <a:bodyPr wrap="square">
            <a:spAutoFit/>
          </a:bodyPr>
          <a:lstStyle/>
          <a:p>
            <a:pPr algn="l"/>
            <a:r>
              <a:rPr sz="2400" b="1">
                <a:solidFill>
                  <a:srgbClr val="1F2C4C"/>
                </a:solidFill>
                <a:latin typeface="맑은 고딕"/>
              </a:rPr>
              <a:t>현금흐름 위기 — 매출보다 시급한 문제</a:t>
            </a:r>
          </a:p>
        </p:txBody>
      </p:sp>
      <p:sp>
        <p:nvSpPr>
          <p:cNvPr id="4" name="TextBox 3"/>
          <p:cNvSpPr txBox="1"/>
          <p:nvPr/>
        </p:nvSpPr>
        <p:spPr>
          <a:xfrm>
            <a:off x="457200" y="1234440"/>
            <a:ext cx="10972800" cy="457200"/>
          </a:xfrm>
          <a:prstGeom prst="rect">
            <a:avLst/>
          </a:prstGeom>
          <a:noFill/>
        </p:spPr>
        <p:txBody>
          <a:bodyPr wrap="square">
            <a:spAutoFit/>
          </a:bodyPr>
          <a:lstStyle/>
          <a:p>
            <a:pPr algn="l"/>
            <a:r>
              <a:rPr sz="1200" b="0">
                <a:solidFill>
                  <a:srgbClr val="555B6E"/>
                </a:solidFill>
                <a:latin typeface="맑은 고딕"/>
              </a:rPr>
              <a:t>부채 316억 vs 현금 44억. 재고에 자본이 묶여 있고 환·대손 리스크가 누적되고 있습니다.</a:t>
            </a:r>
          </a:p>
        </p:txBody>
      </p:sp>
      <p:sp>
        <p:nvSpPr>
          <p:cNvPr id="5" name="Rectangle 4"/>
          <p:cNvSpPr/>
          <p:nvPr/>
        </p:nvSpPr>
        <p:spPr>
          <a:xfrm>
            <a:off x="457200" y="1783080"/>
            <a:ext cx="11247120" cy="20000"/>
          </a:xfrm>
          <a:prstGeom prst="rect">
            <a:avLst/>
          </a:prstGeom>
          <a:solidFill>
            <a:srgbClr val="1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3931920" cy="420624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3657600" cy="365760"/>
          </a:xfrm>
          <a:prstGeom prst="rect">
            <a:avLst/>
          </a:prstGeom>
          <a:noFill/>
        </p:spPr>
        <p:txBody>
          <a:bodyPr wrap="square">
            <a:spAutoFit/>
          </a:bodyPr>
          <a:lstStyle/>
          <a:p>
            <a:pPr algn="l"/>
            <a:r>
              <a:rPr sz="1400" b="1">
                <a:solidFill>
                  <a:srgbClr val="C0392B"/>
                </a:solidFill>
                <a:latin typeface="맑은 고딕"/>
              </a:rPr>
              <a:t>1. 현금흐름 압박</a:t>
            </a:r>
          </a:p>
        </p:txBody>
      </p:sp>
      <p:sp>
        <p:nvSpPr>
          <p:cNvPr id="8" name="TextBox 7"/>
          <p:cNvSpPr txBox="1"/>
          <p:nvPr/>
        </p:nvSpPr>
        <p:spPr>
          <a:xfrm>
            <a:off x="640080" y="2514600"/>
            <a:ext cx="3657600" cy="3657600"/>
          </a:xfrm>
          <a:prstGeom prst="rect">
            <a:avLst/>
          </a:prstGeom>
          <a:noFill/>
        </p:spPr>
        <p:txBody>
          <a:bodyPr wrap="square">
            <a:spAutoFit/>
          </a:bodyPr>
          <a:lstStyle/>
          <a:p>
            <a:pPr algn="l"/>
            <a:r>
              <a:rPr sz="1100">
                <a:solidFill>
                  <a:srgbClr val="1F2C4C"/>
                </a:solidFill>
                <a:latin typeface="맑은 고딕"/>
              </a:rPr>
              <a:t>• 부채 316억 vs 현금 44억 — 7배 차이</a:t>
            </a:r>
          </a:p>
          <a:p>
            <a:pPr algn="l"/>
            <a:r>
              <a:rPr sz="1100">
                <a:solidFill>
                  <a:srgbClr val="1F2C4C"/>
                </a:solidFill>
                <a:latin typeface="맑은 고딕"/>
              </a:rPr>
              <a:t>• 이자 부담 연 16억 (재고 차입 의존)</a:t>
            </a:r>
          </a:p>
          <a:p>
            <a:pPr algn="l"/>
            <a:r>
              <a:rPr sz="1100">
                <a:solidFill>
                  <a:srgbClr val="1F2C4C"/>
                </a:solidFill>
                <a:latin typeface="맑은 고딕"/>
              </a:rPr>
              <a:t>• 재고보유일수 348일 (2022년 215일 → +133일)</a:t>
            </a:r>
          </a:p>
          <a:p>
            <a:pPr algn="l"/>
            <a:r>
              <a:rPr sz="1100">
                <a:solidFill>
                  <a:srgbClr val="1F2C4C"/>
                </a:solidFill>
                <a:latin typeface="맑은 고딕"/>
              </a:rPr>
              <a:t>• 미착상품 102억 (전체 재고의 25%)</a:t>
            </a:r>
          </a:p>
          <a:p>
            <a:pPr algn="l"/>
            <a:r>
              <a:rPr sz="1100">
                <a:solidFill>
                  <a:srgbClr val="1F2C4C"/>
                </a:solidFill>
                <a:latin typeface="맑은 고딕"/>
              </a:rPr>
              <a:t>• 재고평가충당금 2.86억 (시장가 &lt; 원가)</a:t>
            </a:r>
          </a:p>
          <a:p>
            <a:pPr algn="l"/>
            <a:r>
              <a:rPr sz="1100">
                <a:solidFill>
                  <a:srgbClr val="1F2C4C"/>
                </a:solidFill>
                <a:latin typeface="맑은 고딕"/>
              </a:rPr>
              <a:t>• 2025.3Q 영업손실 2.3억</a:t>
            </a:r>
          </a:p>
        </p:txBody>
      </p:sp>
      <p:sp>
        <p:nvSpPr>
          <p:cNvPr id="9" name="Rectangle 8"/>
          <p:cNvSpPr/>
          <p:nvPr/>
        </p:nvSpPr>
        <p:spPr>
          <a:xfrm>
            <a:off x="4572000" y="1965960"/>
            <a:ext cx="3657600" cy="4206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103120"/>
            <a:ext cx="3474720" cy="365760"/>
          </a:xfrm>
          <a:prstGeom prst="rect">
            <a:avLst/>
          </a:prstGeom>
          <a:noFill/>
        </p:spPr>
        <p:txBody>
          <a:bodyPr wrap="square">
            <a:spAutoFit/>
          </a:bodyPr>
          <a:lstStyle/>
          <a:p>
            <a:pPr algn="l"/>
            <a:r>
              <a:rPr sz="1400" b="1">
                <a:solidFill>
                  <a:srgbClr val="1F2C4C"/>
                </a:solidFill>
                <a:latin typeface="맑은 고딕"/>
              </a:rPr>
              <a:t>2. 누적되고 있는 부수 리스크</a:t>
            </a:r>
          </a:p>
        </p:txBody>
      </p:sp>
      <p:sp>
        <p:nvSpPr>
          <p:cNvPr id="11" name="TextBox 10"/>
          <p:cNvSpPr txBox="1"/>
          <p:nvPr/>
        </p:nvSpPr>
        <p:spPr>
          <a:xfrm>
            <a:off x="4754880" y="2514600"/>
            <a:ext cx="3383280" cy="3657600"/>
          </a:xfrm>
          <a:prstGeom prst="rect">
            <a:avLst/>
          </a:prstGeom>
          <a:noFill/>
        </p:spPr>
        <p:txBody>
          <a:bodyPr wrap="square">
            <a:spAutoFit/>
          </a:bodyPr>
          <a:lstStyle/>
          <a:p>
            <a:pPr algn="l"/>
            <a:r>
              <a:rPr sz="1100">
                <a:solidFill>
                  <a:srgbClr val="1F2C4C"/>
                </a:solidFill>
                <a:latin typeface="맑은 고딕"/>
              </a:rPr>
              <a:t>• 환리스크: 외화부채 73억, 5% 변동 시 3.6억 영향</a:t>
            </a:r>
          </a:p>
          <a:p>
            <a:pPr algn="l"/>
            <a:r>
              <a:rPr sz="1100">
                <a:solidFill>
                  <a:srgbClr val="1F2C4C"/>
                </a:solidFill>
                <a:latin typeface="맑은 고딕"/>
              </a:rPr>
              <a:t>• 수동 헤지 — 실시간 추적 불가</a:t>
            </a:r>
          </a:p>
          <a:p>
            <a:pPr algn="l"/>
            <a:r>
              <a:rPr sz="1100">
                <a:solidFill>
                  <a:srgbClr val="1F2C4C"/>
                </a:solidFill>
                <a:latin typeface="맑은 고딕"/>
              </a:rPr>
              <a:t>• 매출채권 연체 25.4억 (연체율 18.6%)</a:t>
            </a:r>
          </a:p>
          <a:p>
            <a:pPr algn="l"/>
            <a:r>
              <a:rPr sz="1100">
                <a:solidFill>
                  <a:srgbClr val="1F2C4C"/>
                </a:solidFill>
                <a:latin typeface="맑은 고딕"/>
              </a:rPr>
              <a:t>• 대손충당금 매년 +2억 증가 추세</a:t>
            </a:r>
          </a:p>
          <a:p>
            <a:pPr algn="l"/>
            <a:r>
              <a:rPr sz="1100">
                <a:solidFill>
                  <a:srgbClr val="1F2C4C"/>
                </a:solidFill>
                <a:latin typeface="맑은 고딕"/>
              </a:rPr>
              <a:t>• 얼로케이션 압박: 한국 안 팔리면 와이너리가 물량 회수</a:t>
            </a:r>
          </a:p>
          <a:p>
            <a:pPr algn="l"/>
            <a:r>
              <a:rPr sz="1100">
                <a:solidFill>
                  <a:srgbClr val="1F2C4C"/>
                </a:solidFill>
                <a:latin typeface="맑은 고딕"/>
              </a:rPr>
              <a:t>• 포트폴리오 약화 악순환</a:t>
            </a:r>
          </a:p>
        </p:txBody>
      </p:sp>
      <p:sp>
        <p:nvSpPr>
          <p:cNvPr id="12" name="Rectangle 11"/>
          <p:cNvSpPr/>
          <p:nvPr/>
        </p:nvSpPr>
        <p:spPr>
          <a:xfrm>
            <a:off x="8412480" y="1965960"/>
            <a:ext cx="3291840" cy="4206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103120"/>
            <a:ext cx="3017520" cy="365760"/>
          </a:xfrm>
          <a:prstGeom prst="rect">
            <a:avLst/>
          </a:prstGeom>
          <a:noFill/>
        </p:spPr>
        <p:txBody>
          <a:bodyPr wrap="square">
            <a:spAutoFit/>
          </a:bodyPr>
          <a:lstStyle/>
          <a:p>
            <a:pPr algn="l"/>
            <a:r>
              <a:rPr sz="1400" b="1">
                <a:solidFill>
                  <a:srgbClr val="1F2C4C"/>
                </a:solidFill>
                <a:latin typeface="맑은 고딕"/>
              </a:rPr>
              <a:t>3. 공통 원인 — 데이터 부재</a:t>
            </a:r>
          </a:p>
        </p:txBody>
      </p:sp>
      <p:sp>
        <p:nvSpPr>
          <p:cNvPr id="14" name="TextBox 13"/>
          <p:cNvSpPr txBox="1"/>
          <p:nvPr/>
        </p:nvSpPr>
        <p:spPr>
          <a:xfrm>
            <a:off x="8595360" y="2514600"/>
            <a:ext cx="3017520" cy="3657600"/>
          </a:xfrm>
          <a:prstGeom prst="rect">
            <a:avLst/>
          </a:prstGeom>
          <a:noFill/>
        </p:spPr>
        <p:txBody>
          <a:bodyPr wrap="square">
            <a:spAutoFit/>
          </a:bodyPr>
          <a:lstStyle/>
          <a:p>
            <a:pPr algn="l"/>
            <a:r>
              <a:rPr sz="1000">
                <a:solidFill>
                  <a:srgbClr val="1F2C4C"/>
                </a:solidFill>
                <a:latin typeface="맑은 고딕"/>
              </a:rPr>
              <a:t>• 채널 사일로: 영업1/영업2/리테일 분리</a:t>
            </a:r>
          </a:p>
          <a:p>
            <a:pPr algn="l"/>
            <a:r>
              <a:rPr sz="1000">
                <a:solidFill>
                  <a:srgbClr val="1F2C4C"/>
                </a:solidFill>
                <a:latin typeface="맑은 고딕"/>
              </a:rPr>
              <a:t>• 계열사 8개 미연결</a:t>
            </a:r>
          </a:p>
          <a:p>
            <a:pPr algn="l"/>
            <a:r>
              <a:rPr sz="1000">
                <a:solidFill>
                  <a:srgbClr val="1F2C4C"/>
                </a:solidFill>
                <a:latin typeface="맑은 고딕"/>
              </a:rPr>
              <a:t>• 매장 10여개 POS 연동 불명확</a:t>
            </a:r>
          </a:p>
          <a:p>
            <a:pPr algn="l"/>
            <a:r>
              <a:rPr sz="1000">
                <a:solidFill>
                  <a:srgbClr val="1F2C4C"/>
                </a:solidFill>
                <a:latin typeface="맑은 고딕"/>
              </a:rPr>
              <a:t>• 프로모션 ROI 측정 도구 부재</a:t>
            </a:r>
          </a:p>
          <a:p>
            <a:pPr algn="l"/>
            <a:r>
              <a:rPr sz="1000">
                <a:solidFill>
                  <a:srgbClr val="1F2C4C"/>
                </a:solidFill>
                <a:latin typeface="맑은 고딕"/>
              </a:rPr>
              <a:t>• "감" 기반 의사결정</a:t>
            </a:r>
          </a:p>
          <a:p>
            <a:pPr algn="l"/>
            <a:r>
              <a:rPr sz="1000">
                <a:solidFill>
                  <a:srgbClr val="1F2C4C"/>
                </a:solidFill>
                <a:latin typeface="맑은 고딕"/>
              </a:rPr>
              <a:t>• 상위 4 브랜드군 = 매출 93%</a:t>
            </a:r>
          </a:p>
          <a:p>
            <a:pPr algn="l"/>
            <a:r>
              <a:rPr sz="1000">
                <a:solidFill>
                  <a:srgbClr val="1F2C4C"/>
                </a:solidFill>
                <a:latin typeface="맑은 고딕"/>
              </a:rPr>
              <a:t>• 161 브랜드·1,955 SKU 중 대부분 재고 잠김</a:t>
            </a:r>
          </a:p>
        </p:txBody>
      </p:sp>
      <p:sp>
        <p:nvSpPr>
          <p:cNvPr id="15" name="Rectangle 14"/>
          <p:cNvSpPr/>
          <p:nvPr/>
        </p:nvSpPr>
        <p:spPr>
          <a:xfrm>
            <a:off x="457200" y="5943600"/>
            <a:ext cx="11247120" cy="411480"/>
          </a:xfrm>
          <a:prstGeom prst="rect">
            <a:avLst/>
          </a:prstGeom>
          <a:solidFill>
            <a:srgbClr val="1F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989320"/>
            <a:ext cx="10972800" cy="320040"/>
          </a:xfrm>
          <a:prstGeom prst="rect">
            <a:avLst/>
          </a:prstGeom>
          <a:noFill/>
        </p:spPr>
        <p:txBody>
          <a:bodyPr wrap="square">
            <a:spAutoFit/>
          </a:bodyPr>
          <a:lstStyle/>
          <a:p>
            <a:pPr algn="l"/>
            <a:r>
              <a:rPr sz="1100" b="1">
                <a:solidFill>
                  <a:srgbClr val="FFFFFF"/>
                </a:solidFill>
                <a:latin typeface="맑은 고딕"/>
              </a:rPr>
              <a:t>진짜 위협은 줄어드는 매출이 아니라, 그 매출로 늘어나는 재고를 떠받치고 있다는 것. 데이터·자동화·AI로 세 가지 모두 해결 가능.</a:t>
            </a:r>
          </a:p>
        </p:txBody>
      </p:sp>
      <p:sp>
        <p:nvSpPr>
          <p:cNvPr id="17" name="TextBox 16"/>
          <p:cNvSpPr txBox="1"/>
          <p:nvPr/>
        </p:nvSpPr>
        <p:spPr>
          <a:xfrm>
            <a:off x="365760" y="6446520"/>
            <a:ext cx="5486400" cy="320040"/>
          </a:xfrm>
          <a:prstGeom prst="rect">
            <a:avLst/>
          </a:prstGeom>
          <a:noFill/>
        </p:spPr>
        <p:txBody>
          <a:bodyPr wrap="square">
            <a:spAutoFit/>
          </a:bodyPr>
          <a:lstStyle/>
          <a:p>
            <a:pPr algn="l"/>
            <a:r>
              <a:rPr sz="900" b="0">
                <a:solidFill>
                  <a:srgbClr val="555B6E"/>
                </a:solidFill>
                <a:latin typeface="맑은 고딕"/>
              </a:rPr>
              <a:t>삼일회계법인 AX Node</a:t>
            </a:r>
          </a:p>
        </p:txBody>
      </p:sp>
      <p:sp>
        <p:nvSpPr>
          <p:cNvPr id="18" name="TextBox 17"/>
          <p:cNvSpPr txBox="1"/>
          <p:nvPr/>
        </p:nvSpPr>
        <p:spPr>
          <a:xfrm>
            <a:off x="11430000" y="6446520"/>
            <a:ext cx="731520" cy="320040"/>
          </a:xfrm>
          <a:prstGeom prst="rect">
            <a:avLst/>
          </a:prstGeom>
          <a:noFill/>
        </p:spPr>
        <p:txBody>
          <a:bodyPr wrap="square">
            <a:spAutoFit/>
          </a:bodyPr>
          <a:lstStyle/>
          <a:p>
            <a:pPr algn="r"/>
            <a:r>
              <a:rPr sz="900" b="0">
                <a:solidFill>
                  <a:srgbClr val="555B6E"/>
                </a:solidFill>
                <a:latin typeface="맑은 고딕"/>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2743200" cy="274320"/>
          </a:xfrm>
          <a:prstGeom prst="rect">
            <a:avLst/>
          </a:prstGeom>
          <a:noFill/>
        </p:spPr>
        <p:txBody>
          <a:bodyPr wrap="square">
            <a:spAutoFit/>
          </a:bodyPr>
          <a:lstStyle/>
          <a:p>
            <a:pPr algn="l"/>
            <a:r>
              <a:rPr sz="1100" b="1">
                <a:solidFill>
                  <a:srgbClr val="C0392B"/>
                </a:solidFill>
                <a:latin typeface="맑은 고딕"/>
              </a:rPr>
              <a:t>ROADMAP</a:t>
            </a:r>
          </a:p>
        </p:txBody>
      </p:sp>
      <p:sp>
        <p:nvSpPr>
          <p:cNvPr id="3" name="TextBox 2"/>
          <p:cNvSpPr txBox="1"/>
          <p:nvPr/>
        </p:nvSpPr>
        <p:spPr>
          <a:xfrm>
            <a:off x="457200" y="594360"/>
            <a:ext cx="10972800" cy="640080"/>
          </a:xfrm>
          <a:prstGeom prst="rect">
            <a:avLst/>
          </a:prstGeom>
          <a:noFill/>
        </p:spPr>
        <p:txBody>
          <a:bodyPr wrap="square">
            <a:spAutoFit/>
          </a:bodyPr>
          <a:lstStyle/>
          <a:p>
            <a:pPr algn="l"/>
            <a:r>
              <a:rPr sz="2400" b="1">
                <a:solidFill>
                  <a:srgbClr val="1F2C4C"/>
                </a:solidFill>
                <a:latin typeface="맑은 고딕"/>
              </a:rPr>
              <a:t>기초공사 → 골조 → 인테리어 — 순서를 지켜야 무너지지 않습니다</a:t>
            </a:r>
          </a:p>
        </p:txBody>
      </p:sp>
      <p:sp>
        <p:nvSpPr>
          <p:cNvPr id="4" name="TextBox 3"/>
          <p:cNvSpPr txBox="1"/>
          <p:nvPr/>
        </p:nvSpPr>
        <p:spPr>
          <a:xfrm>
            <a:off x="457200" y="1234440"/>
            <a:ext cx="10972800" cy="457200"/>
          </a:xfrm>
          <a:prstGeom prst="rect">
            <a:avLst/>
          </a:prstGeom>
          <a:noFill/>
        </p:spPr>
        <p:txBody>
          <a:bodyPr wrap="square">
            <a:spAutoFit/>
          </a:bodyPr>
          <a:lstStyle/>
          <a:p>
            <a:pPr algn="l"/>
            <a:r>
              <a:rPr sz="1200" b="0">
                <a:solidFill>
                  <a:srgbClr val="555B6E"/>
                </a:solidFill>
                <a:latin typeface="맑은 고딕"/>
              </a:rPr>
              <a:t>18개월, 3 Phase. 각 Phase에서 cash flow 효과가 누적됩니다.</a:t>
            </a:r>
          </a:p>
        </p:txBody>
      </p:sp>
      <p:sp>
        <p:nvSpPr>
          <p:cNvPr id="5" name="Rectangle 4"/>
          <p:cNvSpPr/>
          <p:nvPr/>
        </p:nvSpPr>
        <p:spPr>
          <a:xfrm>
            <a:off x="457200" y="1783080"/>
            <a:ext cx="11247120" cy="20000"/>
          </a:xfrm>
          <a:prstGeom prst="rect">
            <a:avLst/>
          </a:prstGeom>
          <a:solidFill>
            <a:srgbClr val="1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3657600" cy="4206240"/>
          </a:xfrm>
          <a:prstGeom prst="rect">
            <a:avLst/>
          </a:prstGeom>
          <a:solidFill>
            <a:srgbClr val="F4F5F7"/>
          </a:solidFill>
          <a:ln w="9525">
            <a:solidFill>
              <a:srgbClr val="4A6B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3657600" cy="502920"/>
          </a:xfrm>
          <a:prstGeom prst="rect">
            <a:avLst/>
          </a:prstGeom>
          <a:solidFill>
            <a:srgbClr val="4A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29968"/>
            <a:ext cx="1828800" cy="320040"/>
          </a:xfrm>
          <a:prstGeom prst="rect">
            <a:avLst/>
          </a:prstGeom>
          <a:noFill/>
        </p:spPr>
        <p:txBody>
          <a:bodyPr wrap="square">
            <a:spAutoFit/>
          </a:bodyPr>
          <a:lstStyle/>
          <a:p>
            <a:pPr algn="l"/>
            <a:r>
              <a:rPr sz="1400" b="1">
                <a:solidFill>
                  <a:srgbClr val="FFFFFF"/>
                </a:solidFill>
                <a:latin typeface="맑은 고딕"/>
              </a:rPr>
              <a:t>Phase 1</a:t>
            </a:r>
          </a:p>
        </p:txBody>
      </p:sp>
      <p:sp>
        <p:nvSpPr>
          <p:cNvPr id="9" name="TextBox 8"/>
          <p:cNvSpPr txBox="1"/>
          <p:nvPr/>
        </p:nvSpPr>
        <p:spPr>
          <a:xfrm>
            <a:off x="2743200" y="2057400"/>
            <a:ext cx="1371600" cy="274320"/>
          </a:xfrm>
          <a:prstGeom prst="rect">
            <a:avLst/>
          </a:prstGeom>
          <a:noFill/>
        </p:spPr>
        <p:txBody>
          <a:bodyPr wrap="square">
            <a:spAutoFit/>
          </a:bodyPr>
          <a:lstStyle/>
          <a:p>
            <a:pPr algn="r"/>
            <a:r>
              <a:rPr sz="1000" b="0">
                <a:solidFill>
                  <a:srgbClr val="FFFFFF"/>
                </a:solidFill>
                <a:latin typeface="맑은 고딕"/>
              </a:rPr>
              <a:t>0~6개월</a:t>
            </a:r>
          </a:p>
        </p:txBody>
      </p:sp>
      <p:sp>
        <p:nvSpPr>
          <p:cNvPr id="10" name="TextBox 9"/>
          <p:cNvSpPr txBox="1"/>
          <p:nvPr/>
        </p:nvSpPr>
        <p:spPr>
          <a:xfrm>
            <a:off x="594360" y="2560320"/>
            <a:ext cx="3383280" cy="365760"/>
          </a:xfrm>
          <a:prstGeom prst="rect">
            <a:avLst/>
          </a:prstGeom>
          <a:noFill/>
        </p:spPr>
        <p:txBody>
          <a:bodyPr wrap="square">
            <a:spAutoFit/>
          </a:bodyPr>
          <a:lstStyle/>
          <a:p>
            <a:pPr algn="l"/>
            <a:r>
              <a:rPr sz="1200" b="1">
                <a:solidFill>
                  <a:srgbClr val="1F2C4C"/>
                </a:solidFill>
                <a:latin typeface="맑은 고딕"/>
              </a:rPr>
              <a:t>클라우드 + 데이터 기반 구축</a:t>
            </a:r>
          </a:p>
        </p:txBody>
      </p:sp>
      <p:sp>
        <p:nvSpPr>
          <p:cNvPr id="11" name="TextBox 10"/>
          <p:cNvSpPr txBox="1"/>
          <p:nvPr/>
        </p:nvSpPr>
        <p:spPr>
          <a:xfrm>
            <a:off x="594360" y="3017520"/>
            <a:ext cx="3383280" cy="2377440"/>
          </a:xfrm>
          <a:prstGeom prst="rect">
            <a:avLst/>
          </a:prstGeom>
          <a:noFill/>
        </p:spPr>
        <p:txBody>
          <a:bodyPr wrap="square">
            <a:spAutoFit/>
          </a:bodyPr>
          <a:lstStyle/>
          <a:p>
            <a:pPr algn="l"/>
            <a:r>
              <a:rPr sz="900">
                <a:solidFill>
                  <a:srgbClr val="1F2C4C"/>
                </a:solidFill>
                <a:latin typeface="맑은 고딕"/>
              </a:rPr>
              <a:t>• 클라우드 ERP 전환 (SAP ByDesign / 더존 클라우드)</a:t>
            </a:r>
          </a:p>
          <a:p>
            <a:pPr algn="l"/>
            <a:r>
              <a:rPr sz="900">
                <a:solidFill>
                  <a:srgbClr val="1F2C4C"/>
                </a:solidFill>
                <a:latin typeface="맑은 고딕"/>
              </a:rPr>
              <a:t>• 본사 + 물류 + 미국법인 + 직영매장 연결</a:t>
            </a:r>
          </a:p>
          <a:p>
            <a:pPr algn="l"/>
            <a:r>
              <a:rPr sz="900">
                <a:solidFill>
                  <a:srgbClr val="1F2C4C"/>
                </a:solidFill>
                <a:latin typeface="맑은 고딕"/>
              </a:rPr>
              <a:t>• SKU×채널×거래처 데이터 정제·축적</a:t>
            </a:r>
          </a:p>
          <a:p>
            <a:pPr algn="l"/>
            <a:r>
              <a:rPr sz="900">
                <a:solidFill>
                  <a:srgbClr val="1F2C4C"/>
                </a:solidFill>
                <a:latin typeface="맑은 고딕"/>
              </a:rPr>
              <a:t>• 거래처 네트워크 맵핑 (도매-업장-상권)</a:t>
            </a:r>
          </a:p>
          <a:p>
            <a:pPr algn="l"/>
            <a:r>
              <a:rPr sz="900">
                <a:solidFill>
                  <a:srgbClr val="1F2C4C"/>
                </a:solidFill>
                <a:latin typeface="맑은 고딕"/>
              </a:rPr>
              <a:t>• 프로모션 ROI 측정 (Google CausalImpact)</a:t>
            </a:r>
          </a:p>
          <a:p>
            <a:pPr algn="l"/>
            <a:r>
              <a:rPr sz="900">
                <a:solidFill>
                  <a:srgbClr val="1F2C4C"/>
                </a:solidFill>
                <a:latin typeface="맑은 고딕"/>
              </a:rPr>
              <a:t>• 통합 데이터 레이크 + 실시간 연동</a:t>
            </a:r>
          </a:p>
        </p:txBody>
      </p:sp>
      <p:sp>
        <p:nvSpPr>
          <p:cNvPr id="12" name="Rectangle 11"/>
          <p:cNvSpPr/>
          <p:nvPr/>
        </p:nvSpPr>
        <p:spPr>
          <a:xfrm>
            <a:off x="594360" y="5394960"/>
            <a:ext cx="3383280" cy="731520"/>
          </a:xfrm>
          <a:prstGeom prst="rect">
            <a:avLst/>
          </a:prstGeom>
          <a:solidFill>
            <a:srgbClr val="E6F4EA"/>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440680"/>
            <a:ext cx="3200400" cy="228600"/>
          </a:xfrm>
          <a:prstGeom prst="rect">
            <a:avLst/>
          </a:prstGeom>
          <a:noFill/>
        </p:spPr>
        <p:txBody>
          <a:bodyPr wrap="square">
            <a:spAutoFit/>
          </a:bodyPr>
          <a:lstStyle/>
          <a:p>
            <a:pPr algn="l"/>
            <a:r>
              <a:rPr sz="900" b="1">
                <a:solidFill>
                  <a:srgbClr val="1E8E3E"/>
                </a:solidFill>
                <a:latin typeface="맑은 고딕"/>
              </a:rPr>
              <a:t>Cash flow 효과</a:t>
            </a:r>
          </a:p>
        </p:txBody>
      </p:sp>
      <p:sp>
        <p:nvSpPr>
          <p:cNvPr id="14" name="TextBox 13"/>
          <p:cNvSpPr txBox="1"/>
          <p:nvPr/>
        </p:nvSpPr>
        <p:spPr>
          <a:xfrm>
            <a:off x="685800" y="5669280"/>
            <a:ext cx="3200400" cy="411480"/>
          </a:xfrm>
          <a:prstGeom prst="rect">
            <a:avLst/>
          </a:prstGeom>
          <a:noFill/>
        </p:spPr>
        <p:txBody>
          <a:bodyPr wrap="square">
            <a:spAutoFit/>
          </a:bodyPr>
          <a:lstStyle/>
          <a:p>
            <a:pPr algn="l"/>
            <a:r>
              <a:rPr sz="900" b="0">
                <a:solidFill>
                  <a:srgbClr val="1F2C4C"/>
                </a:solidFill>
                <a:latin typeface="맑은 고딕"/>
              </a:rPr>
              <a:t>IT 관리비 ~30%↓ (CapEx→OpEx). 직접 절감은 작지만 Phase 2/3의 전제.</a:t>
            </a:r>
          </a:p>
        </p:txBody>
      </p:sp>
      <p:sp>
        <p:nvSpPr>
          <p:cNvPr id="15" name="Rectangle 14"/>
          <p:cNvSpPr/>
          <p:nvPr/>
        </p:nvSpPr>
        <p:spPr>
          <a:xfrm>
            <a:off x="4251960" y="1965960"/>
            <a:ext cx="3657600" cy="4206240"/>
          </a:xfrm>
          <a:prstGeom prst="rect">
            <a:avLst/>
          </a:prstGeom>
          <a:solidFill>
            <a:srgbClr val="F4F5F7"/>
          </a:solidFill>
          <a:ln w="9525">
            <a:solidFill>
              <a:srgbClr val="3D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1965960"/>
            <a:ext cx="3657600" cy="502920"/>
          </a:xfrm>
          <a:prstGeom prst="rect">
            <a:avLst/>
          </a:prstGeom>
          <a:solidFill>
            <a:srgbClr val="3D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029968"/>
            <a:ext cx="1828800" cy="320040"/>
          </a:xfrm>
          <a:prstGeom prst="rect">
            <a:avLst/>
          </a:prstGeom>
          <a:noFill/>
        </p:spPr>
        <p:txBody>
          <a:bodyPr wrap="square">
            <a:spAutoFit/>
          </a:bodyPr>
          <a:lstStyle/>
          <a:p>
            <a:pPr algn="l"/>
            <a:r>
              <a:rPr sz="1400" b="1">
                <a:solidFill>
                  <a:srgbClr val="FFFFFF"/>
                </a:solidFill>
                <a:latin typeface="맑은 고딕"/>
              </a:rPr>
              <a:t>Phase 2</a:t>
            </a:r>
          </a:p>
        </p:txBody>
      </p:sp>
      <p:sp>
        <p:nvSpPr>
          <p:cNvPr id="18" name="TextBox 17"/>
          <p:cNvSpPr txBox="1"/>
          <p:nvPr/>
        </p:nvSpPr>
        <p:spPr>
          <a:xfrm>
            <a:off x="6537960" y="2057400"/>
            <a:ext cx="1371600" cy="274320"/>
          </a:xfrm>
          <a:prstGeom prst="rect">
            <a:avLst/>
          </a:prstGeom>
          <a:noFill/>
        </p:spPr>
        <p:txBody>
          <a:bodyPr wrap="square">
            <a:spAutoFit/>
          </a:bodyPr>
          <a:lstStyle/>
          <a:p>
            <a:pPr algn="r"/>
            <a:r>
              <a:rPr sz="1000" b="0">
                <a:solidFill>
                  <a:srgbClr val="FFFFFF"/>
                </a:solidFill>
                <a:latin typeface="맑은 고딕"/>
              </a:rPr>
              <a:t>6~12개월</a:t>
            </a:r>
          </a:p>
        </p:txBody>
      </p:sp>
      <p:sp>
        <p:nvSpPr>
          <p:cNvPr id="19" name="TextBox 18"/>
          <p:cNvSpPr txBox="1"/>
          <p:nvPr/>
        </p:nvSpPr>
        <p:spPr>
          <a:xfrm>
            <a:off x="4389120" y="2560320"/>
            <a:ext cx="3383280" cy="365760"/>
          </a:xfrm>
          <a:prstGeom prst="rect">
            <a:avLst/>
          </a:prstGeom>
          <a:noFill/>
        </p:spPr>
        <p:txBody>
          <a:bodyPr wrap="square">
            <a:spAutoFit/>
          </a:bodyPr>
          <a:lstStyle/>
          <a:p>
            <a:pPr algn="l"/>
            <a:r>
              <a:rPr sz="1200" b="1">
                <a:solidFill>
                  <a:srgbClr val="1F2C4C"/>
                </a:solidFill>
                <a:latin typeface="맑은 고딕"/>
              </a:rPr>
              <a:t>자동화 + 시뮬레이션</a:t>
            </a:r>
          </a:p>
        </p:txBody>
      </p:sp>
      <p:sp>
        <p:nvSpPr>
          <p:cNvPr id="20" name="TextBox 19"/>
          <p:cNvSpPr txBox="1"/>
          <p:nvPr/>
        </p:nvSpPr>
        <p:spPr>
          <a:xfrm>
            <a:off x="4389120" y="3017520"/>
            <a:ext cx="3383280" cy="2377440"/>
          </a:xfrm>
          <a:prstGeom prst="rect">
            <a:avLst/>
          </a:prstGeom>
          <a:noFill/>
        </p:spPr>
        <p:txBody>
          <a:bodyPr wrap="square">
            <a:spAutoFit/>
          </a:bodyPr>
          <a:lstStyle/>
          <a:p>
            <a:pPr algn="l"/>
            <a:r>
              <a:rPr sz="900">
                <a:solidFill>
                  <a:srgbClr val="1F2C4C"/>
                </a:solidFill>
                <a:latin typeface="맑은 고딕"/>
              </a:rPr>
              <a:t>• 수요예측 모델 (SKU×채널, 시즌·환율·트렌드)</a:t>
            </a:r>
          </a:p>
          <a:p>
            <a:pPr algn="l"/>
            <a:r>
              <a:rPr sz="900">
                <a:solidFill>
                  <a:srgbClr val="1F2C4C"/>
                </a:solidFill>
                <a:latin typeface="맑은 고딕"/>
              </a:rPr>
              <a:t>• 재고보유일수 348일 → 250일 목표</a:t>
            </a:r>
          </a:p>
          <a:p>
            <a:pPr algn="l"/>
            <a:r>
              <a:rPr sz="900">
                <a:solidFill>
                  <a:srgbClr val="1F2C4C"/>
                </a:solidFill>
                <a:latin typeface="맑은 고딕"/>
              </a:rPr>
              <a:t>• 환리스크 자동 추적 + 임계치 알림</a:t>
            </a:r>
          </a:p>
          <a:p>
            <a:pPr algn="l"/>
            <a:r>
              <a:rPr sz="900">
                <a:solidFill>
                  <a:srgbClr val="1F2C4C"/>
                </a:solidFill>
                <a:latin typeface="맑은 고딕"/>
              </a:rPr>
              <a:t>• 거래처 신용스코링 + 연체 자동 플래그</a:t>
            </a:r>
          </a:p>
          <a:p>
            <a:pPr algn="l"/>
            <a:r>
              <a:rPr sz="900">
                <a:solidFill>
                  <a:srgbClr val="1F2C4C"/>
                </a:solidFill>
                <a:latin typeface="맑은 고딕"/>
              </a:rPr>
              <a:t>• 채널 배분 What-If 시뮬레이션</a:t>
            </a:r>
          </a:p>
          <a:p>
            <a:pPr algn="l"/>
            <a:r>
              <a:rPr sz="900">
                <a:solidFill>
                  <a:srgbClr val="1F2C4C"/>
                </a:solidFill>
                <a:latin typeface="맑은 고딕"/>
              </a:rPr>
              <a:t>• → 이 시점에서 영업손실 흑자 전환 가능</a:t>
            </a:r>
          </a:p>
        </p:txBody>
      </p:sp>
      <p:sp>
        <p:nvSpPr>
          <p:cNvPr id="21" name="Rectangle 20"/>
          <p:cNvSpPr/>
          <p:nvPr/>
        </p:nvSpPr>
        <p:spPr>
          <a:xfrm>
            <a:off x="4389120" y="5394960"/>
            <a:ext cx="3383280" cy="731520"/>
          </a:xfrm>
          <a:prstGeom prst="rect">
            <a:avLst/>
          </a:prstGeom>
          <a:solidFill>
            <a:srgbClr val="E6F4EA"/>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5440680"/>
            <a:ext cx="3200400" cy="228600"/>
          </a:xfrm>
          <a:prstGeom prst="rect">
            <a:avLst/>
          </a:prstGeom>
          <a:noFill/>
        </p:spPr>
        <p:txBody>
          <a:bodyPr wrap="square">
            <a:spAutoFit/>
          </a:bodyPr>
          <a:lstStyle/>
          <a:p>
            <a:pPr algn="l"/>
            <a:r>
              <a:rPr sz="900" b="1">
                <a:solidFill>
                  <a:srgbClr val="1E8E3E"/>
                </a:solidFill>
                <a:latin typeface="맑은 고딕"/>
              </a:rPr>
              <a:t>Cash flow 효과</a:t>
            </a:r>
          </a:p>
        </p:txBody>
      </p:sp>
      <p:sp>
        <p:nvSpPr>
          <p:cNvPr id="23" name="TextBox 22"/>
          <p:cNvSpPr txBox="1"/>
          <p:nvPr/>
        </p:nvSpPr>
        <p:spPr>
          <a:xfrm>
            <a:off x="4480560" y="5669280"/>
            <a:ext cx="3200400" cy="411480"/>
          </a:xfrm>
          <a:prstGeom prst="rect">
            <a:avLst/>
          </a:prstGeom>
          <a:noFill/>
        </p:spPr>
        <p:txBody>
          <a:bodyPr wrap="square">
            <a:spAutoFit/>
          </a:bodyPr>
          <a:lstStyle/>
          <a:p>
            <a:pPr algn="l"/>
            <a:r>
              <a:rPr sz="900" b="0">
                <a:solidFill>
                  <a:srgbClr val="1F2C4C"/>
                </a:solidFill>
                <a:latin typeface="맑은 고딕"/>
              </a:rPr>
              <a:t>재고 100억↓ → 이자 연 4~5억↓ / 환리스크 1~2억 / 대손 2~3억 절감.</a:t>
            </a:r>
          </a:p>
        </p:txBody>
      </p:sp>
      <p:sp>
        <p:nvSpPr>
          <p:cNvPr id="24" name="Rectangle 23"/>
          <p:cNvSpPr/>
          <p:nvPr/>
        </p:nvSpPr>
        <p:spPr>
          <a:xfrm>
            <a:off x="8046720" y="1965960"/>
            <a:ext cx="3657600" cy="4206240"/>
          </a:xfrm>
          <a:prstGeom prst="rect">
            <a:avLst/>
          </a:prstGeom>
          <a:solidFill>
            <a:srgbClr val="F4F5F7"/>
          </a:solidFill>
          <a:ln w="9525">
            <a:solidFill>
              <a:srgbClr val="1F2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1965960"/>
            <a:ext cx="3657600" cy="502920"/>
          </a:xfrm>
          <a:prstGeom prst="rect">
            <a:avLst/>
          </a:prstGeom>
          <a:solidFill>
            <a:srgbClr val="1F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80" y="2029968"/>
            <a:ext cx="1828800" cy="320040"/>
          </a:xfrm>
          <a:prstGeom prst="rect">
            <a:avLst/>
          </a:prstGeom>
          <a:noFill/>
        </p:spPr>
        <p:txBody>
          <a:bodyPr wrap="square">
            <a:spAutoFit/>
          </a:bodyPr>
          <a:lstStyle/>
          <a:p>
            <a:pPr algn="l"/>
            <a:r>
              <a:rPr sz="1400" b="1">
                <a:solidFill>
                  <a:srgbClr val="FFFFFF"/>
                </a:solidFill>
                <a:latin typeface="맑은 고딕"/>
              </a:rPr>
              <a:t>Phase 3</a:t>
            </a:r>
          </a:p>
        </p:txBody>
      </p:sp>
      <p:sp>
        <p:nvSpPr>
          <p:cNvPr id="27" name="TextBox 26"/>
          <p:cNvSpPr txBox="1"/>
          <p:nvPr/>
        </p:nvSpPr>
        <p:spPr>
          <a:xfrm>
            <a:off x="10332720" y="2057400"/>
            <a:ext cx="1371600" cy="274320"/>
          </a:xfrm>
          <a:prstGeom prst="rect">
            <a:avLst/>
          </a:prstGeom>
          <a:noFill/>
        </p:spPr>
        <p:txBody>
          <a:bodyPr wrap="square">
            <a:spAutoFit/>
          </a:bodyPr>
          <a:lstStyle/>
          <a:p>
            <a:pPr algn="r"/>
            <a:r>
              <a:rPr sz="1000" b="0">
                <a:solidFill>
                  <a:srgbClr val="FFFFFF"/>
                </a:solidFill>
                <a:latin typeface="맑은 고딕"/>
              </a:rPr>
              <a:t>12~18개월</a:t>
            </a:r>
          </a:p>
        </p:txBody>
      </p:sp>
      <p:sp>
        <p:nvSpPr>
          <p:cNvPr id="28" name="TextBox 27"/>
          <p:cNvSpPr txBox="1"/>
          <p:nvPr/>
        </p:nvSpPr>
        <p:spPr>
          <a:xfrm>
            <a:off x="8183880" y="2560320"/>
            <a:ext cx="3383280" cy="365760"/>
          </a:xfrm>
          <a:prstGeom prst="rect">
            <a:avLst/>
          </a:prstGeom>
          <a:noFill/>
        </p:spPr>
        <p:txBody>
          <a:bodyPr wrap="square">
            <a:spAutoFit/>
          </a:bodyPr>
          <a:lstStyle/>
          <a:p>
            <a:pPr algn="l"/>
            <a:r>
              <a:rPr sz="1200" b="1">
                <a:solidFill>
                  <a:srgbClr val="1F2C4C"/>
                </a:solidFill>
                <a:latin typeface="맑은 고딕"/>
              </a:rPr>
              <a:t>AI 개인화 추천 Agent</a:t>
            </a:r>
          </a:p>
        </p:txBody>
      </p:sp>
      <p:sp>
        <p:nvSpPr>
          <p:cNvPr id="29" name="TextBox 28"/>
          <p:cNvSpPr txBox="1"/>
          <p:nvPr/>
        </p:nvSpPr>
        <p:spPr>
          <a:xfrm>
            <a:off x="8183880" y="3017520"/>
            <a:ext cx="3383280" cy="2377440"/>
          </a:xfrm>
          <a:prstGeom prst="rect">
            <a:avLst/>
          </a:prstGeom>
          <a:noFill/>
        </p:spPr>
        <p:txBody>
          <a:bodyPr wrap="square">
            <a:spAutoFit/>
          </a:bodyPr>
          <a:lstStyle/>
          <a:p>
            <a:pPr algn="l"/>
            <a:r>
              <a:rPr sz="900">
                <a:solidFill>
                  <a:srgbClr val="1F2C4C"/>
                </a:solidFill>
                <a:latin typeface="맑은 고딕"/>
              </a:rPr>
              <a:t>• 거래처별 맞춤 와인 추천 AI</a:t>
            </a:r>
          </a:p>
          <a:p>
            <a:pPr algn="l"/>
            <a:r>
              <a:rPr sz="900">
                <a:solidFill>
                  <a:srgbClr val="1F2C4C"/>
                </a:solidFill>
                <a:latin typeface="맑은 고딕"/>
              </a:rPr>
              <a:t>• 1,955 SKU 전체가 추천 대상화</a:t>
            </a:r>
          </a:p>
          <a:p>
            <a:pPr algn="l"/>
            <a:r>
              <a:rPr sz="900">
                <a:solidFill>
                  <a:srgbClr val="1F2C4C"/>
                </a:solidFill>
                <a:latin typeface="맑은 고딕"/>
              </a:rPr>
              <a:t>• 영업사원 미팅 브리핑 자동 생성</a:t>
            </a:r>
          </a:p>
          <a:p>
            <a:pPr algn="l"/>
            <a:r>
              <a:rPr sz="900">
                <a:solidFill>
                  <a:srgbClr val="1F2C4C"/>
                </a:solidFill>
                <a:latin typeface="맑은 고딕"/>
              </a:rPr>
              <a:t>• 거래처 매출 개선 컨설팅 데이터 제공</a:t>
            </a:r>
          </a:p>
          <a:p>
            <a:pPr algn="l"/>
            <a:r>
              <a:rPr sz="900">
                <a:solidFill>
                  <a:srgbClr val="1F2C4C"/>
                </a:solidFill>
                <a:latin typeface="맑은 고딕"/>
              </a:rPr>
              <a:t>• 포지셔닝: 공급자 → 거래처 성장 파트너</a:t>
            </a:r>
          </a:p>
          <a:p>
            <a:pPr algn="l"/>
            <a:r>
              <a:rPr sz="900">
                <a:solidFill>
                  <a:srgbClr val="1F2C4C"/>
                </a:solidFill>
                <a:latin typeface="맑은 고딕"/>
              </a:rPr>
              <a:t>• 신규 브랜드 론칭 최적화</a:t>
            </a:r>
          </a:p>
        </p:txBody>
      </p:sp>
      <p:sp>
        <p:nvSpPr>
          <p:cNvPr id="30" name="Rectangle 29"/>
          <p:cNvSpPr/>
          <p:nvPr/>
        </p:nvSpPr>
        <p:spPr>
          <a:xfrm>
            <a:off x="8183880" y="5394960"/>
            <a:ext cx="3383280" cy="731520"/>
          </a:xfrm>
          <a:prstGeom prst="rect">
            <a:avLst/>
          </a:prstGeom>
          <a:solidFill>
            <a:srgbClr val="E6F4EA"/>
          </a:solidFill>
          <a:ln w="952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5440680"/>
            <a:ext cx="3200400" cy="228600"/>
          </a:xfrm>
          <a:prstGeom prst="rect">
            <a:avLst/>
          </a:prstGeom>
          <a:noFill/>
        </p:spPr>
        <p:txBody>
          <a:bodyPr wrap="square">
            <a:spAutoFit/>
          </a:bodyPr>
          <a:lstStyle/>
          <a:p>
            <a:pPr algn="l"/>
            <a:r>
              <a:rPr sz="900" b="1">
                <a:solidFill>
                  <a:srgbClr val="1E8E3E"/>
                </a:solidFill>
                <a:latin typeface="맑은 고딕"/>
              </a:rPr>
              <a:t>Cash flow 효과</a:t>
            </a:r>
          </a:p>
        </p:txBody>
      </p:sp>
      <p:sp>
        <p:nvSpPr>
          <p:cNvPr id="32" name="TextBox 31"/>
          <p:cNvSpPr txBox="1"/>
          <p:nvPr/>
        </p:nvSpPr>
        <p:spPr>
          <a:xfrm>
            <a:off x="8275320" y="5669280"/>
            <a:ext cx="3200400" cy="411480"/>
          </a:xfrm>
          <a:prstGeom prst="rect">
            <a:avLst/>
          </a:prstGeom>
          <a:noFill/>
        </p:spPr>
        <p:txBody>
          <a:bodyPr wrap="square">
            <a:spAutoFit/>
          </a:bodyPr>
          <a:lstStyle/>
          <a:p>
            <a:pPr algn="l"/>
            <a:r>
              <a:rPr sz="900" b="0">
                <a:solidFill>
                  <a:srgbClr val="1F2C4C"/>
                </a:solidFill>
                <a:latin typeface="맑은 고딕"/>
              </a:rPr>
              <a:t>Long Tail 매출 +5~10% (와인앱 벤치마크 +41% 대비 보수적 추정).</a:t>
            </a:r>
          </a:p>
        </p:txBody>
      </p:sp>
      <p:sp>
        <p:nvSpPr>
          <p:cNvPr id="33" name="TextBox 32"/>
          <p:cNvSpPr txBox="1"/>
          <p:nvPr/>
        </p:nvSpPr>
        <p:spPr>
          <a:xfrm>
            <a:off x="365760" y="6446520"/>
            <a:ext cx="5486400" cy="320040"/>
          </a:xfrm>
          <a:prstGeom prst="rect">
            <a:avLst/>
          </a:prstGeom>
          <a:noFill/>
        </p:spPr>
        <p:txBody>
          <a:bodyPr wrap="square">
            <a:spAutoFit/>
          </a:bodyPr>
          <a:lstStyle/>
          <a:p>
            <a:pPr algn="l"/>
            <a:r>
              <a:rPr sz="900" b="0">
                <a:solidFill>
                  <a:srgbClr val="555B6E"/>
                </a:solidFill>
                <a:latin typeface="맑은 고딕"/>
              </a:rPr>
              <a:t>삼일회계법인 AX Node</a:t>
            </a:r>
          </a:p>
        </p:txBody>
      </p:sp>
      <p:sp>
        <p:nvSpPr>
          <p:cNvPr id="34" name="TextBox 33"/>
          <p:cNvSpPr txBox="1"/>
          <p:nvPr/>
        </p:nvSpPr>
        <p:spPr>
          <a:xfrm>
            <a:off x="11430000" y="6446520"/>
            <a:ext cx="731520" cy="320040"/>
          </a:xfrm>
          <a:prstGeom prst="rect">
            <a:avLst/>
          </a:prstGeom>
          <a:noFill/>
        </p:spPr>
        <p:txBody>
          <a:bodyPr wrap="square">
            <a:spAutoFit/>
          </a:bodyPr>
          <a:lstStyle/>
          <a:p>
            <a:pPr algn="r"/>
            <a:r>
              <a:rPr sz="900" b="0">
                <a:solidFill>
                  <a:srgbClr val="555B6E"/>
                </a:solidFill>
                <a:latin typeface="맑은 고딕"/>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2743200" cy="274320"/>
          </a:xfrm>
          <a:prstGeom prst="rect">
            <a:avLst/>
          </a:prstGeom>
          <a:noFill/>
        </p:spPr>
        <p:txBody>
          <a:bodyPr wrap="square">
            <a:spAutoFit/>
          </a:bodyPr>
          <a:lstStyle/>
          <a:p>
            <a:pPr algn="l"/>
            <a:r>
              <a:rPr sz="1100" b="1">
                <a:solidFill>
                  <a:srgbClr val="C0392B"/>
                </a:solidFill>
                <a:latin typeface="맑은 고딕"/>
              </a:rPr>
              <a:t>EXPECTED IMPACT</a:t>
            </a:r>
          </a:p>
        </p:txBody>
      </p:sp>
      <p:sp>
        <p:nvSpPr>
          <p:cNvPr id="3" name="TextBox 2"/>
          <p:cNvSpPr txBox="1"/>
          <p:nvPr/>
        </p:nvSpPr>
        <p:spPr>
          <a:xfrm>
            <a:off x="457200" y="594360"/>
            <a:ext cx="10972800" cy="640080"/>
          </a:xfrm>
          <a:prstGeom prst="rect">
            <a:avLst/>
          </a:prstGeom>
          <a:noFill/>
        </p:spPr>
        <p:txBody>
          <a:bodyPr wrap="square">
            <a:spAutoFit/>
          </a:bodyPr>
          <a:lstStyle/>
          <a:p>
            <a:pPr algn="l"/>
            <a:r>
              <a:rPr sz="2400" b="1">
                <a:solidFill>
                  <a:srgbClr val="1F2C4C"/>
                </a:solidFill>
                <a:latin typeface="맑은 고딕"/>
              </a:rPr>
              <a:t>비용절감만으로 흑자 전환 — 성장은 그 위에 얹는 것</a:t>
            </a:r>
          </a:p>
        </p:txBody>
      </p:sp>
      <p:sp>
        <p:nvSpPr>
          <p:cNvPr id="4" name="TextBox 3"/>
          <p:cNvSpPr txBox="1"/>
          <p:nvPr/>
        </p:nvSpPr>
        <p:spPr>
          <a:xfrm>
            <a:off x="457200" y="1234440"/>
            <a:ext cx="10972800" cy="457200"/>
          </a:xfrm>
          <a:prstGeom prst="rect">
            <a:avLst/>
          </a:prstGeom>
          <a:noFill/>
        </p:spPr>
        <p:txBody>
          <a:bodyPr wrap="square">
            <a:spAutoFit/>
          </a:bodyPr>
          <a:lstStyle/>
          <a:p>
            <a:pPr algn="l"/>
            <a:r>
              <a:rPr sz="1200" b="0">
                <a:solidFill>
                  <a:srgbClr val="555B6E"/>
                </a:solidFill>
                <a:latin typeface="맑은 고딕"/>
              </a:rPr>
              <a:t>2025.3Q 영업손실 2.3억. Phase 2 종료 시점에 비용절감 합계가 손실을 넘어섭니다.</a:t>
            </a:r>
          </a:p>
        </p:txBody>
      </p:sp>
      <p:sp>
        <p:nvSpPr>
          <p:cNvPr id="5" name="Rectangle 4"/>
          <p:cNvSpPr/>
          <p:nvPr/>
        </p:nvSpPr>
        <p:spPr>
          <a:xfrm>
            <a:off x="457200" y="1783080"/>
            <a:ext cx="11247120" cy="20000"/>
          </a:xfrm>
          <a:prstGeom prst="rect">
            <a:avLst/>
          </a:prstGeom>
          <a:solidFill>
            <a:srgbClr val="1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2011680"/>
          <a:ext cx="8046720" cy="3291840"/>
        </p:xfrm>
        <a:graphic>
          <a:graphicData uri="http://schemas.openxmlformats.org/drawingml/2006/table">
            <a:tbl>
              <a:tblPr firstRow="1" bandRow="1">
                <a:tableStyleId>{5C22544A-7EE6-4342-B048-85BDC9FD1C3A}</a:tableStyleId>
              </a:tblPr>
              <a:tblGrid>
                <a:gridCol w="1828800"/>
                <a:gridCol w="1645920"/>
                <a:gridCol w="1645920"/>
                <a:gridCol w="1371600"/>
                <a:gridCol w="1554480"/>
              </a:tblGrid>
              <a:tr h="548640">
                <a:tc>
                  <a:txBody>
                    <a:bodyPr/>
                    <a:lstStyle/>
                    <a:p>
                      <a:r>
                        <a:rPr sz="1000" b="1">
                          <a:solidFill>
                            <a:srgbClr val="FFFFFF"/>
                          </a:solidFill>
                          <a:latin typeface="맑은 고딕"/>
                        </a:rPr>
                        <a:t>항목</a:t>
                      </a:r>
                    </a:p>
                  </a:txBody>
                  <a:tcPr>
                    <a:solidFill>
                      <a:srgbClr val="1F2C4C"/>
                    </a:solidFill>
                  </a:tcPr>
                </a:tc>
                <a:tc>
                  <a:txBody>
                    <a:bodyPr/>
                    <a:lstStyle/>
                    <a:p>
                      <a:r>
                        <a:rPr sz="1000" b="1">
                          <a:solidFill>
                            <a:srgbClr val="FFFFFF"/>
                          </a:solidFill>
                          <a:latin typeface="맑은 고딕"/>
                        </a:rPr>
                        <a:t>현재</a:t>
                      </a:r>
                    </a:p>
                  </a:txBody>
                  <a:tcPr>
                    <a:solidFill>
                      <a:srgbClr val="1F2C4C"/>
                    </a:solidFill>
                  </a:tcPr>
                </a:tc>
                <a:tc>
                  <a:txBody>
                    <a:bodyPr/>
                    <a:lstStyle/>
                    <a:p>
                      <a:r>
                        <a:rPr sz="1000" b="1">
                          <a:solidFill>
                            <a:srgbClr val="FFFFFF"/>
                          </a:solidFill>
                          <a:latin typeface="맑은 고딕"/>
                        </a:rPr>
                        <a:t>전환 후</a:t>
                      </a:r>
                    </a:p>
                  </a:txBody>
                  <a:tcPr>
                    <a:solidFill>
                      <a:srgbClr val="1F2C4C"/>
                    </a:solidFill>
                  </a:tcPr>
                </a:tc>
                <a:tc>
                  <a:txBody>
                    <a:bodyPr/>
                    <a:lstStyle/>
                    <a:p>
                      <a:r>
                        <a:rPr sz="1000" b="1">
                          <a:solidFill>
                            <a:srgbClr val="FFFFFF"/>
                          </a:solidFill>
                          <a:latin typeface="맑은 고딕"/>
                        </a:rPr>
                        <a:t>연 효과</a:t>
                      </a:r>
                    </a:p>
                  </a:txBody>
                  <a:tcPr>
                    <a:solidFill>
                      <a:srgbClr val="1F2C4C"/>
                    </a:solidFill>
                  </a:tcPr>
                </a:tc>
                <a:tc>
                  <a:txBody>
                    <a:bodyPr/>
                    <a:lstStyle/>
                    <a:p>
                      <a:r>
                        <a:rPr sz="1000" b="1">
                          <a:solidFill>
                            <a:srgbClr val="FFFFFF"/>
                          </a:solidFill>
                          <a:latin typeface="맑은 고딕"/>
                        </a:rPr>
                        <a:t>누적 시점</a:t>
                      </a:r>
                    </a:p>
                  </a:txBody>
                  <a:tcPr>
                    <a:solidFill>
                      <a:srgbClr val="1F2C4C"/>
                    </a:solidFill>
                  </a:tcPr>
                </a:tc>
              </a:tr>
              <a:tr h="548640">
                <a:tc>
                  <a:txBody>
                    <a:bodyPr/>
                    <a:lstStyle/>
                    <a:p>
                      <a:r>
                        <a:rPr sz="1000">
                          <a:solidFill>
                            <a:srgbClr val="1F2C4C"/>
                          </a:solidFill>
                          <a:latin typeface="맑은 고딕"/>
                        </a:rPr>
                        <a:t>이자 부담 절감 (재고↓)</a:t>
                      </a:r>
                    </a:p>
                  </a:txBody>
                  <a:tcPr/>
                </a:tc>
                <a:tc>
                  <a:txBody>
                    <a:bodyPr/>
                    <a:lstStyle/>
                    <a:p>
                      <a:r>
                        <a:rPr sz="1000">
                          <a:solidFill>
                            <a:srgbClr val="1F2C4C"/>
                          </a:solidFill>
                          <a:latin typeface="맑은 고딕"/>
                        </a:rPr>
                        <a:t>재고 348일, 이자 16억</a:t>
                      </a:r>
                    </a:p>
                  </a:txBody>
                  <a:tcPr/>
                </a:tc>
                <a:tc>
                  <a:txBody>
                    <a:bodyPr/>
                    <a:lstStyle/>
                    <a:p>
                      <a:r>
                        <a:rPr sz="1000">
                          <a:solidFill>
                            <a:srgbClr val="1F2C4C"/>
                          </a:solidFill>
                          <a:latin typeface="맑은 고딕"/>
                        </a:rPr>
                        <a:t>재고 250일</a:t>
                      </a:r>
                    </a:p>
                  </a:txBody>
                  <a:tcPr/>
                </a:tc>
                <a:tc>
                  <a:txBody>
                    <a:bodyPr/>
                    <a:lstStyle/>
                    <a:p>
                      <a:r>
                        <a:rPr sz="1000">
                          <a:solidFill>
                            <a:srgbClr val="1F2C4C"/>
                          </a:solidFill>
                          <a:latin typeface="맑은 고딕"/>
                        </a:rPr>
                        <a:t>연 4~5억↓</a:t>
                      </a:r>
                    </a:p>
                  </a:txBody>
                  <a:tcPr/>
                </a:tc>
                <a:tc>
                  <a:txBody>
                    <a:bodyPr/>
                    <a:lstStyle/>
                    <a:p>
                      <a:r>
                        <a:rPr sz="1000">
                          <a:solidFill>
                            <a:srgbClr val="1F2C4C"/>
                          </a:solidFill>
                          <a:latin typeface="맑은 고딕"/>
                        </a:rPr>
                        <a:t>Phase 2 후반</a:t>
                      </a:r>
                    </a:p>
                  </a:txBody>
                  <a:tcPr/>
                </a:tc>
              </a:tr>
              <a:tr h="548640">
                <a:tc>
                  <a:txBody>
                    <a:bodyPr/>
                    <a:lstStyle/>
                    <a:p>
                      <a:r>
                        <a:rPr sz="1000">
                          <a:solidFill>
                            <a:srgbClr val="1F2C4C"/>
                          </a:solidFill>
                          <a:latin typeface="맑은 고딕"/>
                        </a:rPr>
                        <a:t>환리스크 절감</a:t>
                      </a:r>
                    </a:p>
                  </a:txBody>
                  <a:tcPr/>
                </a:tc>
                <a:tc>
                  <a:txBody>
                    <a:bodyPr/>
                    <a:lstStyle/>
                    <a:p>
                      <a:r>
                        <a:rPr sz="1000">
                          <a:solidFill>
                            <a:srgbClr val="1F2C4C"/>
                          </a:solidFill>
                          <a:latin typeface="맑은 고딕"/>
                        </a:rPr>
                        <a:t>수동 헤지, 73억 노출</a:t>
                      </a:r>
                    </a:p>
                  </a:txBody>
                  <a:tcPr/>
                </a:tc>
                <a:tc>
                  <a:txBody>
                    <a:bodyPr/>
                    <a:lstStyle/>
                    <a:p>
                      <a:r>
                        <a:rPr sz="1000">
                          <a:solidFill>
                            <a:srgbClr val="1F2C4C"/>
                          </a:solidFill>
                          <a:latin typeface="맑은 고딕"/>
                        </a:rPr>
                        <a:t>실시간 추적 + 알림</a:t>
                      </a:r>
                    </a:p>
                  </a:txBody>
                  <a:tcPr/>
                </a:tc>
                <a:tc>
                  <a:txBody>
                    <a:bodyPr/>
                    <a:lstStyle/>
                    <a:p>
                      <a:r>
                        <a:rPr sz="1000">
                          <a:solidFill>
                            <a:srgbClr val="1F2C4C"/>
                          </a:solidFill>
                          <a:latin typeface="맑은 고딕"/>
                        </a:rPr>
                        <a:t>연 1~2억</a:t>
                      </a:r>
                    </a:p>
                  </a:txBody>
                  <a:tcPr/>
                </a:tc>
                <a:tc>
                  <a:txBody>
                    <a:bodyPr/>
                    <a:lstStyle/>
                    <a:p>
                      <a:r>
                        <a:rPr sz="1000">
                          <a:solidFill>
                            <a:srgbClr val="1F2C4C"/>
                          </a:solidFill>
                          <a:latin typeface="맑은 고딕"/>
                        </a:rPr>
                        <a:t>Phase 2 중반</a:t>
                      </a:r>
                    </a:p>
                  </a:txBody>
                  <a:tcPr/>
                </a:tc>
              </a:tr>
              <a:tr h="548640">
                <a:tc>
                  <a:txBody>
                    <a:bodyPr/>
                    <a:lstStyle/>
                    <a:p>
                      <a:r>
                        <a:rPr sz="1000">
                          <a:solidFill>
                            <a:srgbClr val="1F2C4C"/>
                          </a:solidFill>
                          <a:latin typeface="맑은 고딕"/>
                        </a:rPr>
                        <a:t>대손 절감</a:t>
                      </a:r>
                    </a:p>
                  </a:txBody>
                  <a:tcPr/>
                </a:tc>
                <a:tc>
                  <a:txBody>
                    <a:bodyPr/>
                    <a:lstStyle/>
                    <a:p>
                      <a:r>
                        <a:rPr sz="1000">
                          <a:solidFill>
                            <a:srgbClr val="1F2C4C"/>
                          </a:solidFill>
                          <a:latin typeface="맑은 고딕"/>
                        </a:rPr>
                        <a:t>매년 2억↑ 증가</a:t>
                      </a:r>
                    </a:p>
                  </a:txBody>
                  <a:tcPr/>
                </a:tc>
                <a:tc>
                  <a:txBody>
                    <a:bodyPr/>
                    <a:lstStyle/>
                    <a:p>
                      <a:r>
                        <a:rPr sz="1000">
                          <a:solidFill>
                            <a:srgbClr val="1F2C4C"/>
                          </a:solidFill>
                          <a:latin typeface="맑은 고딕"/>
                        </a:rPr>
                        <a:t>신용스코링 + 자동 플래그</a:t>
                      </a:r>
                    </a:p>
                  </a:txBody>
                  <a:tcPr/>
                </a:tc>
                <a:tc>
                  <a:txBody>
                    <a:bodyPr/>
                    <a:lstStyle/>
                    <a:p>
                      <a:r>
                        <a:rPr sz="1000">
                          <a:solidFill>
                            <a:srgbClr val="1F2C4C"/>
                          </a:solidFill>
                          <a:latin typeface="맑은 고딕"/>
                        </a:rPr>
                        <a:t>연 2~3억</a:t>
                      </a:r>
                    </a:p>
                  </a:txBody>
                  <a:tcPr/>
                </a:tc>
                <a:tc>
                  <a:txBody>
                    <a:bodyPr/>
                    <a:lstStyle/>
                    <a:p>
                      <a:r>
                        <a:rPr sz="1000">
                          <a:solidFill>
                            <a:srgbClr val="1F2C4C"/>
                          </a:solidFill>
                          <a:latin typeface="맑은 고딕"/>
                        </a:rPr>
                        <a:t>Phase 2 후반</a:t>
                      </a:r>
                    </a:p>
                  </a:txBody>
                  <a:tcPr/>
                </a:tc>
              </a:tr>
              <a:tr h="548640">
                <a:tc>
                  <a:txBody>
                    <a:bodyPr/>
                    <a:lstStyle/>
                    <a:p>
                      <a:r>
                        <a:rPr sz="1000">
                          <a:solidFill>
                            <a:srgbClr val="1F2C4C"/>
                          </a:solidFill>
                          <a:latin typeface="맑은 고딕"/>
                        </a:rPr>
                        <a:t>IT 관리비 절감</a:t>
                      </a:r>
                    </a:p>
                  </a:txBody>
                  <a:tcPr/>
                </a:tc>
                <a:tc>
                  <a:txBody>
                    <a:bodyPr/>
                    <a:lstStyle/>
                    <a:p>
                      <a:r>
                        <a:rPr sz="1000">
                          <a:solidFill>
                            <a:srgbClr val="1F2C4C"/>
                          </a:solidFill>
                          <a:latin typeface="맑은 고딕"/>
                        </a:rPr>
                        <a:t>온프레미스 사일로</a:t>
                      </a:r>
                    </a:p>
                  </a:txBody>
                  <a:tcPr/>
                </a:tc>
                <a:tc>
                  <a:txBody>
                    <a:bodyPr/>
                    <a:lstStyle/>
                    <a:p>
                      <a:r>
                        <a:rPr sz="1000">
                          <a:solidFill>
                            <a:srgbClr val="1F2C4C"/>
                          </a:solidFill>
                          <a:latin typeface="맑은 고딕"/>
                        </a:rPr>
                        <a:t>클라우드 통합</a:t>
                      </a:r>
                    </a:p>
                  </a:txBody>
                  <a:tcPr/>
                </a:tc>
                <a:tc>
                  <a:txBody>
                    <a:bodyPr/>
                    <a:lstStyle/>
                    <a:p>
                      <a:r>
                        <a:rPr sz="1000">
                          <a:solidFill>
                            <a:srgbClr val="1F2C4C"/>
                          </a:solidFill>
                          <a:latin typeface="맑은 고딕"/>
                        </a:rPr>
                        <a:t>~30%↓</a:t>
                      </a:r>
                    </a:p>
                  </a:txBody>
                  <a:tcPr/>
                </a:tc>
                <a:tc>
                  <a:txBody>
                    <a:bodyPr/>
                    <a:lstStyle/>
                    <a:p>
                      <a:r>
                        <a:rPr sz="1000">
                          <a:solidFill>
                            <a:srgbClr val="1F2C4C"/>
                          </a:solidFill>
                          <a:latin typeface="맑은 고딕"/>
                        </a:rPr>
                        <a:t>Phase 1 종료</a:t>
                      </a:r>
                    </a:p>
                  </a:txBody>
                  <a:tcPr/>
                </a:tc>
              </a:tr>
              <a:tr h="548640">
                <a:tc>
                  <a:txBody>
                    <a:bodyPr/>
                    <a:lstStyle/>
                    <a:p>
                      <a:r>
                        <a:rPr sz="1000">
                          <a:solidFill>
                            <a:srgbClr val="1F2C4C"/>
                          </a:solidFill>
                          <a:latin typeface="맑은 고딕"/>
                        </a:rPr>
                        <a:t>Long Tail 매출 (보너스)</a:t>
                      </a:r>
                    </a:p>
                  </a:txBody>
                  <a:tcPr>
                    <a:solidFill>
                      <a:srgbClr val="FFF8E1"/>
                    </a:solidFill>
                  </a:tcPr>
                </a:tc>
                <a:tc>
                  <a:txBody>
                    <a:bodyPr/>
                    <a:lstStyle/>
                    <a:p>
                      <a:r>
                        <a:rPr sz="1000">
                          <a:solidFill>
                            <a:srgbClr val="1F2C4C"/>
                          </a:solidFill>
                          <a:latin typeface="맑은 고딕"/>
                        </a:rPr>
                        <a:t>상위 4 브랜드 = 93%</a:t>
                      </a:r>
                    </a:p>
                  </a:txBody>
                  <a:tcPr>
                    <a:solidFill>
                      <a:srgbClr val="FFF8E1"/>
                    </a:solidFill>
                  </a:tcPr>
                </a:tc>
                <a:tc>
                  <a:txBody>
                    <a:bodyPr/>
                    <a:lstStyle/>
                    <a:p>
                      <a:r>
                        <a:rPr sz="1000">
                          <a:solidFill>
                            <a:srgbClr val="1F2C4C"/>
                          </a:solidFill>
                          <a:latin typeface="맑은 고딕"/>
                        </a:rPr>
                        <a:t>AI 매칭 미들/롱테일 활성</a:t>
                      </a:r>
                    </a:p>
                  </a:txBody>
                  <a:tcPr>
                    <a:solidFill>
                      <a:srgbClr val="FFF8E1"/>
                    </a:solidFill>
                  </a:tcPr>
                </a:tc>
                <a:tc>
                  <a:txBody>
                    <a:bodyPr/>
                    <a:lstStyle/>
                    <a:p>
                      <a:r>
                        <a:rPr sz="1000">
                          <a:solidFill>
                            <a:srgbClr val="1F2C4C"/>
                          </a:solidFill>
                          <a:latin typeface="맑은 고딕"/>
                        </a:rPr>
                        <a:t>매출 +5~10%</a:t>
                      </a:r>
                    </a:p>
                  </a:txBody>
                  <a:tcPr>
                    <a:solidFill>
                      <a:srgbClr val="FFF8E1"/>
                    </a:solidFill>
                  </a:tcPr>
                </a:tc>
                <a:tc>
                  <a:txBody>
                    <a:bodyPr/>
                    <a:lstStyle/>
                    <a:p>
                      <a:r>
                        <a:rPr sz="1000">
                          <a:solidFill>
                            <a:srgbClr val="1F2C4C"/>
                          </a:solidFill>
                          <a:latin typeface="맑은 고딕"/>
                        </a:rPr>
                        <a:t>Phase 3</a:t>
                      </a:r>
                    </a:p>
                  </a:txBody>
                  <a:tcPr>
                    <a:solidFill>
                      <a:srgbClr val="FFF8E1"/>
                    </a:solidFill>
                  </a:tcPr>
                </a:tc>
              </a:tr>
            </a:tbl>
          </a:graphicData>
        </a:graphic>
      </p:graphicFrame>
      <p:sp>
        <p:nvSpPr>
          <p:cNvPr id="7" name="Rectangle 6"/>
          <p:cNvSpPr/>
          <p:nvPr/>
        </p:nvSpPr>
        <p:spPr>
          <a:xfrm>
            <a:off x="8686800" y="2011680"/>
            <a:ext cx="3017520" cy="32918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2103120"/>
            <a:ext cx="2743200" cy="274320"/>
          </a:xfrm>
          <a:prstGeom prst="rect">
            <a:avLst/>
          </a:prstGeom>
          <a:noFill/>
        </p:spPr>
        <p:txBody>
          <a:bodyPr wrap="square">
            <a:spAutoFit/>
          </a:bodyPr>
          <a:lstStyle/>
          <a:p>
            <a:pPr algn="l"/>
            <a:r>
              <a:rPr sz="1100" b="1">
                <a:solidFill>
                  <a:srgbClr val="1F2C4C"/>
                </a:solidFill>
                <a:latin typeface="맑은 고딕"/>
              </a:rPr>
              <a:t>벤치마크 (illustrative)</a:t>
            </a:r>
          </a:p>
        </p:txBody>
      </p:sp>
      <p:sp>
        <p:nvSpPr>
          <p:cNvPr id="9" name="TextBox 8"/>
          <p:cNvSpPr txBox="1"/>
          <p:nvPr/>
        </p:nvSpPr>
        <p:spPr>
          <a:xfrm>
            <a:off x="8869680" y="2514600"/>
            <a:ext cx="2743200" cy="2743200"/>
          </a:xfrm>
          <a:prstGeom prst="rect">
            <a:avLst/>
          </a:prstGeom>
          <a:noFill/>
        </p:spPr>
        <p:txBody>
          <a:bodyPr wrap="square">
            <a:spAutoFit/>
          </a:bodyPr>
          <a:lstStyle/>
          <a:p>
            <a:pPr algn="l"/>
            <a:r>
              <a:rPr sz="1000">
                <a:solidFill>
                  <a:srgbClr val="555B6E"/>
                </a:solidFill>
                <a:latin typeface="맑은 고딕"/>
              </a:rPr>
              <a:t>• 이마트 사이캐스트: 예측오차 18%↓</a:t>
            </a:r>
          </a:p>
          <a:p>
            <a:pPr algn="l"/>
            <a:r>
              <a:rPr sz="1000">
                <a:solidFill>
                  <a:srgbClr val="555B6E"/>
                </a:solidFill>
                <a:latin typeface="맑은 고딕"/>
              </a:rPr>
              <a:t>• 유통업 AI 재고비용: 20%↓</a:t>
            </a:r>
          </a:p>
          <a:p>
            <a:pPr algn="l"/>
            <a:r>
              <a:rPr sz="1000">
                <a:solidFill>
                  <a:srgbClr val="555B6E"/>
                </a:solidFill>
                <a:latin typeface="맑은 고딕"/>
              </a:rPr>
              <a:t>• 와인앱 개인화 장바구니: +41%</a:t>
            </a:r>
          </a:p>
          <a:p>
            <a:pPr algn="l"/>
            <a:r>
              <a:rPr sz="1000">
                <a:solidFill>
                  <a:srgbClr val="555B6E"/>
                </a:solidFill>
                <a:latin typeface="맑은 고딕"/>
              </a:rPr>
              <a:t>• 애터미 클라우드: IT비용 30%↓</a:t>
            </a:r>
          </a:p>
        </p:txBody>
      </p:sp>
      <p:sp>
        <p:nvSpPr>
          <p:cNvPr id="10" name="Rectangle 9"/>
          <p:cNvSpPr/>
          <p:nvPr/>
        </p:nvSpPr>
        <p:spPr>
          <a:xfrm>
            <a:off x="457200" y="5486400"/>
            <a:ext cx="11247120" cy="868680"/>
          </a:xfrm>
          <a:prstGeom prst="rect">
            <a:avLst/>
          </a:prstGeom>
          <a:solidFill>
            <a:srgbClr val="1F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532120"/>
            <a:ext cx="10972800" cy="274320"/>
          </a:xfrm>
          <a:prstGeom prst="rect">
            <a:avLst/>
          </a:prstGeom>
          <a:noFill/>
        </p:spPr>
        <p:txBody>
          <a:bodyPr wrap="square">
            <a:spAutoFit/>
          </a:bodyPr>
          <a:lstStyle/>
          <a:p>
            <a:pPr algn="l"/>
            <a:r>
              <a:rPr sz="1100" b="1">
                <a:solidFill>
                  <a:srgbClr val="FFFFFF"/>
                </a:solidFill>
                <a:latin typeface="맑은 고딕"/>
              </a:rPr>
              <a:t>단기: 비용절감 합계 연 7~10억 → 영업손실 2.3억 충분히 상쇄, 흑자 전환</a:t>
            </a:r>
          </a:p>
        </p:txBody>
      </p:sp>
      <p:sp>
        <p:nvSpPr>
          <p:cNvPr id="12" name="TextBox 11"/>
          <p:cNvSpPr txBox="1"/>
          <p:nvPr/>
        </p:nvSpPr>
        <p:spPr>
          <a:xfrm>
            <a:off x="640080" y="5806440"/>
            <a:ext cx="10972800" cy="274320"/>
          </a:xfrm>
          <a:prstGeom prst="rect">
            <a:avLst/>
          </a:prstGeom>
          <a:noFill/>
        </p:spPr>
        <p:txBody>
          <a:bodyPr wrap="square">
            <a:spAutoFit/>
          </a:bodyPr>
          <a:lstStyle/>
          <a:p>
            <a:pPr algn="l"/>
            <a:r>
              <a:rPr sz="1100" b="1">
                <a:solidFill>
                  <a:srgbClr val="FFFFFF"/>
                </a:solidFill>
                <a:latin typeface="맑은 고딕"/>
              </a:rPr>
              <a:t>중기: 재고 100억 감소로 자본 회수 → 재무구조 개선 (부채/자본 비율)</a:t>
            </a:r>
          </a:p>
        </p:txBody>
      </p:sp>
      <p:sp>
        <p:nvSpPr>
          <p:cNvPr id="13" name="TextBox 12"/>
          <p:cNvSpPr txBox="1"/>
          <p:nvPr/>
        </p:nvSpPr>
        <p:spPr>
          <a:xfrm>
            <a:off x="640080" y="6080760"/>
            <a:ext cx="10972800" cy="274320"/>
          </a:xfrm>
          <a:prstGeom prst="rect">
            <a:avLst/>
          </a:prstGeom>
          <a:noFill/>
        </p:spPr>
        <p:txBody>
          <a:bodyPr wrap="square">
            <a:spAutoFit/>
          </a:bodyPr>
          <a:lstStyle/>
          <a:p>
            <a:pPr algn="l"/>
            <a:r>
              <a:rPr sz="1100" b="1">
                <a:solidFill>
                  <a:srgbClr val="FFC107"/>
                </a:solidFill>
                <a:latin typeface="맑은 고딕"/>
              </a:rPr>
              <a:t>장기 (진짜 가치): Long Tail 활성화 → 매출 2,500억 경로 재활성화, 얼로케이션 선순환</a:t>
            </a:r>
          </a:p>
        </p:txBody>
      </p:sp>
      <p:sp>
        <p:nvSpPr>
          <p:cNvPr id="14" name="TextBox 13"/>
          <p:cNvSpPr txBox="1"/>
          <p:nvPr/>
        </p:nvSpPr>
        <p:spPr>
          <a:xfrm>
            <a:off x="365760" y="6446520"/>
            <a:ext cx="5486400" cy="320040"/>
          </a:xfrm>
          <a:prstGeom prst="rect">
            <a:avLst/>
          </a:prstGeom>
          <a:noFill/>
        </p:spPr>
        <p:txBody>
          <a:bodyPr wrap="square">
            <a:spAutoFit/>
          </a:bodyPr>
          <a:lstStyle/>
          <a:p>
            <a:pPr algn="l"/>
            <a:r>
              <a:rPr sz="900" b="0">
                <a:solidFill>
                  <a:srgbClr val="555B6E"/>
                </a:solidFill>
                <a:latin typeface="맑은 고딕"/>
              </a:rPr>
              <a:t>삼일회계법인 AX Node</a:t>
            </a:r>
          </a:p>
        </p:txBody>
      </p:sp>
      <p:sp>
        <p:nvSpPr>
          <p:cNvPr id="15" name="TextBox 14"/>
          <p:cNvSpPr txBox="1"/>
          <p:nvPr/>
        </p:nvSpPr>
        <p:spPr>
          <a:xfrm>
            <a:off x="11430000" y="6446520"/>
            <a:ext cx="731520" cy="320040"/>
          </a:xfrm>
          <a:prstGeom prst="rect">
            <a:avLst/>
          </a:prstGeom>
          <a:noFill/>
        </p:spPr>
        <p:txBody>
          <a:bodyPr wrap="square">
            <a:spAutoFit/>
          </a:bodyPr>
          <a:lstStyle/>
          <a:p>
            <a:pPr algn="r"/>
            <a:r>
              <a:rPr sz="900" b="0">
                <a:solidFill>
                  <a:srgbClr val="555B6E"/>
                </a:solidFill>
                <a:latin typeface="맑은 고딕"/>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