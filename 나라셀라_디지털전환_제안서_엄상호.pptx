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530E"/>
    <a:srgbClr val="D0CECE"/>
    <a:srgbClr val="F1A78A"/>
    <a:srgbClr val="ED7D31"/>
    <a:srgbClr val="D26E2A"/>
    <a:srgbClr val="B35D22"/>
    <a:srgbClr val="EC550E"/>
    <a:srgbClr val="2A9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219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국가별 비중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2">
                  <a:shade val="5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F6-44FE-BFD0-C18D8587C607}"/>
              </c:ext>
            </c:extLst>
          </c:dPt>
          <c:dPt>
            <c:idx val="1"/>
            <c:bubble3D val="0"/>
            <c:spPr>
              <a:solidFill>
                <a:schemeClr val="accent2">
                  <a:shade val="7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F6-44FE-BFD0-C18D8587C607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F6-44FE-BFD0-C18D8587C607}"/>
              </c:ext>
            </c:extLst>
          </c:dPt>
          <c:dPt>
            <c:idx val="3"/>
            <c:bubble3D val="0"/>
            <c:spPr>
              <a:solidFill>
                <a:schemeClr val="accent2">
                  <a:tint val="7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0F6-44FE-BFD0-C18D8587C607}"/>
              </c:ext>
            </c:extLst>
          </c:dPt>
          <c:dPt>
            <c:idx val="4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0C2-40BC-9EBE-309B9C6AB14E}"/>
              </c:ext>
            </c:extLst>
          </c:dPt>
          <c:cat>
            <c:strRef>
              <c:f>Sheet1!$A$2:$A$6</c:f>
              <c:strCache>
                <c:ptCount val="5"/>
                <c:pt idx="0">
                  <c:v>Caymus</c:v>
                </c:pt>
                <c:pt idx="1">
                  <c:v>La Croisade</c:v>
                </c:pt>
                <c:pt idx="2">
                  <c:v>Montes</c:v>
                </c:pt>
                <c:pt idx="3">
                  <c:v>Dow's Port</c:v>
                </c:pt>
                <c:pt idx="4">
                  <c:v>기타 24%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17</c:v>
                </c:pt>
                <c:pt idx="2">
                  <c:v>17</c:v>
                </c:pt>
                <c:pt idx="3">
                  <c:v>17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0F6-44FE-BFD0-C18D8587C6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247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나라셀라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디지털 전환 제안서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삼일회계법인</a:t>
            </a: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AX </a:t>
            </a:r>
            <a:r>
              <a:rPr lang="en-US" altLang="ko-KR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Node</a:t>
            </a: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C90E8F4-CC49-AB87-C710-B80645F65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59" y="391868"/>
            <a:ext cx="1096293" cy="18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9AFBE85-BFAF-B15E-C397-958095669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310685"/>
            <a:ext cx="582327" cy="3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martArt 개체 틀 4">
            <a:extLst>
              <a:ext uri="{FF2B5EF4-FFF2-40B4-BE49-F238E27FC236}">
                <a16:creationId xmlns:a16="http://schemas.microsoft.com/office/drawing/2014/main" id="{2CCF93BE-CFDA-948E-B7EA-F4FA1A649562}"/>
              </a:ext>
            </a:extLst>
          </p:cNvPr>
          <p:cNvSpPr>
            <a:spLocks noGrp="1"/>
          </p:cNvSpPr>
          <p:nvPr/>
        </p:nvSpPr>
        <p:spPr>
          <a:xfrm>
            <a:off x="731520" y="2788920"/>
            <a:ext cx="3990206" cy="45719"/>
          </a:xfrm>
          <a:prstGeom prst="rect">
            <a:avLst/>
          </a:prstGeom>
          <a:solidFill>
            <a:srgbClr val="E8530E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ln>
                  <a:noFill/>
                </a:ln>
                <a:noFill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11" name="그림 10" descr="폰트, 텍스트, 타이포그래피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913864-2702-3B17-E799-1343AC172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515" y="219874"/>
            <a:ext cx="904099" cy="4746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전환의 전제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solidFill>
            <a:srgbClr val="FFF0E6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73152" cy="146304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나라셀라는 소수의 히트 브랜드를 잘 파는 회사입니다.
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하지만 축소 시장에서 상장 후 비전을 달성하려면,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1,955개 SKU 전체가 맞는 곳에 도달해야 합니다.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그러려면 개인화된 추천이 필요하고, 추천에는 데이터가 필요하고,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데이터에는 디지털 전환이 선제되어야 합니다.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8745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187452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43000" y="301752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520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클라우드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94360" y="3840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계열사·매장·물류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하나로 연결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864" y="3520440"/>
            <a:ext cx="128016" cy="1280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468880" y="2834640"/>
            <a:ext cx="18745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2468880" y="2834640"/>
            <a:ext cx="187452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154680" y="30175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68880" y="3520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데이터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2606040" y="3840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SKU×채널×거래처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축적·정제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3520440"/>
            <a:ext cx="128016" cy="1280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480560" y="2834640"/>
            <a:ext cx="18745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4480560" y="2834640"/>
            <a:ext cx="187452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66360" y="301752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80560" y="3520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자동화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617720" y="3840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반복 업무 제거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데이터 품질 향상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520440"/>
            <a:ext cx="128016" cy="12801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492240" y="2834640"/>
            <a:ext cx="18745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6492240" y="2834640"/>
            <a:ext cx="187452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178040" y="3017520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92240" y="3520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AI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6629400" y="3840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개인화 추천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Agent 실현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삼일회계법인 AX </a:t>
            </a:r>
            <a:r>
              <a:rPr lang="en-US" altLang="ko-KR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Node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2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4" name="그림 33" descr="텍스트, 음료, 유리병, 알코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307C48-3D2D-8FED-6B70-EF71E1877A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1731" y="1060704"/>
            <a:ext cx="3032618" cy="14859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3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Environment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와인 시장은 구조적 축소 국면에 진입했습니다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14173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28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76,575t → 52,036t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수입량 3년간 32% 감소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(2021 → 2024)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06040" cy="14173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74720" y="1188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28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-17%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병당 판매가 하락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(vs 2022)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06040" cy="14173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09360" y="1188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28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-32%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프리미엄 와인 판매 급감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(이탈리아·미국·호주)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4640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2024년 거래처(레스토랑, 와인바) 20여 곳 폐업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83464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MZ세대 와인 → 위스키·무알코올로 이탈 가속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편의점 와인 급성장 — 소비 채널의 구조적 변화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42900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7492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업계 전망: "2008년 금융위기보다 더 어려운 상황"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출처: 관세청, 한국무역협회, 와인인(WineIn), 파이낸셜투데이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삼일회계법인 AX </a:t>
            </a:r>
            <a:r>
              <a:rPr lang="en-US" altLang="ko-KR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Node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3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As-Is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소수의 히트 브랜드에 의존하는 매출 구조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4800" y="1120140"/>
            <a:ext cx="3931920" cy="329184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182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매출 구조 편중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710210617"/>
              </p:ext>
            </p:extLst>
          </p:nvPr>
        </p:nvGraphicFramePr>
        <p:xfrm>
          <a:off x="640080" y="1554480"/>
          <a:ext cx="18288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2549626" y="1643517"/>
            <a:ext cx="164592" cy="164592"/>
          </a:xfrm>
          <a:prstGeom prst="rect">
            <a:avLst/>
          </a:prstGeom>
          <a:solidFill>
            <a:srgbClr val="B35D22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2778226" y="1597797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케이머스</a:t>
            </a:r>
            <a:r>
              <a:rPr lang="en-US" sz="9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외 43%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549626" y="2009277"/>
            <a:ext cx="164592" cy="164592"/>
          </a:xfrm>
          <a:prstGeom prst="rect">
            <a:avLst/>
          </a:prstGeom>
          <a:solidFill>
            <a:srgbClr val="D26E2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778226" y="1963557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라</a:t>
            </a:r>
            <a:r>
              <a:rPr lang="en-US" sz="9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sz="900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크라사드</a:t>
            </a:r>
            <a:r>
              <a:rPr lang="en-US" sz="9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외 17%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549626" y="2375037"/>
            <a:ext cx="164592" cy="16459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778226" y="2329317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몬테스</a:t>
            </a:r>
            <a:r>
              <a:rPr lang="en-US" sz="9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외 17%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549626" y="2740797"/>
            <a:ext cx="164592" cy="164592"/>
          </a:xfrm>
          <a:prstGeom prst="rect">
            <a:avLst/>
          </a:prstGeom>
          <a:solidFill>
            <a:srgbClr val="F1A78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778226" y="2695077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다우스</a:t>
            </a:r>
            <a:r>
              <a:rPr lang="ko-KR" altLang="en-US" sz="9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포트 외</a:t>
            </a:r>
            <a:r>
              <a:rPr lang="en-US" sz="9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17%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63440" y="1097280"/>
            <a:ext cx="4023360" cy="329184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재고 문제의 본질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846320" y="1600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재고가 많은 것 자체가 문제가 아닙니다.
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와인업은 리드타임 3~4개월, 얼로케이션, 냉장 보관 등 구조적으로 재고가 높은 산업입니다.
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6282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문제는 "안 팔리는 재고"가 늘고 있다는 것.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삼일회계법인</a:t>
            </a: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AX </a:t>
            </a:r>
            <a:r>
              <a:rPr lang="en-US" altLang="ko-KR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Node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4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120BC062-39B4-B345-757E-CFF2DDE03C41}"/>
              </a:ext>
            </a:extLst>
          </p:cNvPr>
          <p:cNvSpPr/>
          <p:nvPr/>
        </p:nvSpPr>
        <p:spPr>
          <a:xfrm>
            <a:off x="2549626" y="3121797"/>
            <a:ext cx="164592" cy="164592"/>
          </a:xfrm>
          <a:prstGeom prst="rect">
            <a:avLst/>
          </a:prstGeom>
          <a:solidFill>
            <a:srgbClr val="D0CEC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536066F-35FC-C733-4C4A-9E6C51F92FDA}"/>
              </a:ext>
            </a:extLst>
          </p:cNvPr>
          <p:cNvSpPr/>
          <p:nvPr/>
        </p:nvSpPr>
        <p:spPr>
          <a:xfrm>
            <a:off x="4793909" y="3122195"/>
            <a:ext cx="994610" cy="9665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1F9485A6-9280-14A5-EEA0-8DDFBC7A4002}"/>
              </a:ext>
            </a:extLst>
          </p:cNvPr>
          <p:cNvSpPr/>
          <p:nvPr/>
        </p:nvSpPr>
        <p:spPr>
          <a:xfrm>
            <a:off x="2778226" y="3076077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기타</a:t>
            </a:r>
            <a:r>
              <a:rPr lang="en-US" sz="9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7%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979995" y="3124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28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348일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979995" y="3489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재고보유일수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(2022년 215일 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→ +133일)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50AF0D4-41C4-F133-EE96-6AF635A07444}"/>
              </a:ext>
            </a:extLst>
          </p:cNvPr>
          <p:cNvSpPr/>
          <p:nvPr/>
        </p:nvSpPr>
        <p:spPr>
          <a:xfrm>
            <a:off x="6105074" y="3122194"/>
            <a:ext cx="994610" cy="9665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079E91F-85CC-EDEC-8838-D8A5A984DE8F}"/>
              </a:ext>
            </a:extLst>
          </p:cNvPr>
          <p:cNvSpPr/>
          <p:nvPr/>
        </p:nvSpPr>
        <p:spPr>
          <a:xfrm>
            <a:off x="7427757" y="3124200"/>
            <a:ext cx="994610" cy="9665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260155" y="3124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28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2.86억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260155" y="3489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재고평가충당금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(시장가 &lt; 원가)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540315" y="3154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102억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540315" y="3520440"/>
            <a:ext cx="1276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미착상품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(전체 재고의 25%)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D5D9FD6-6E77-FD93-4493-5D8CC2A735B5}"/>
              </a:ext>
            </a:extLst>
          </p:cNvPr>
          <p:cNvSpPr/>
          <p:nvPr/>
        </p:nvSpPr>
        <p:spPr>
          <a:xfrm>
            <a:off x="457199" y="3377933"/>
            <a:ext cx="3483811" cy="9665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48640" y="346176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상위</a:t>
            </a:r>
            <a:r>
              <a:rPr lang="en-US" sz="11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4</a:t>
            </a:r>
            <a:r>
              <a:rPr lang="ko-KR" altLang="en-US" sz="11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브랜드군</a:t>
            </a:r>
            <a:r>
              <a:rPr lang="en-US" sz="11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= 93%
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161 브랜드, 1,955 SKU 보유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영업 현장에서 추천되는 건 극히 일부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재고로 남는 와인 多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As-Is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왜 맞는 거래처를 연결하지 못하는가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4008" cy="105156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24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채널 사일로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43000" y="14356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영업1(Off), 영업2(On), 리테일 분리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각 팀이 자기 채널 데이터만 보고 있음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크로스채널 최적화 불가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" y="2240280"/>
            <a:ext cx="411480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64008" cy="105156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77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"감" 기반 의사결정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143000" y="26243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도매채널 재고 적체 — 인식은 있지만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데이터로 해결 못함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프로모션 ROI 측정 도구 없음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" y="3429000"/>
            <a:ext cx="411480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57200" y="3429000"/>
            <a:ext cx="64008" cy="105156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661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계열사 8개 미연결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143000" y="38130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NARA USA, 소주스토리, 나라스피릿 등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매장 10여개 POS 연동 불명확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3PL 전환 과도기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846320" y="1051560"/>
            <a:ext cx="3840480" cy="342900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데이터 부재가 만드는 재무적 문제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64592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1581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현금 고갈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6675120" y="1581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8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44억 vs 부채 316억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394960" y="18562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재고에 자본 묶임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5029200" y="2167128"/>
            <a:ext cx="3383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33172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2267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환리스크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667512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8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외화부채 73억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5394960" y="25420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5% 변동 시 3.6억 영향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5029200" y="2852928"/>
            <a:ext cx="3383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01752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94960" y="2953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매출채권 연체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6675120" y="2953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8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25.4억 (18.6%)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5394960" y="3227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대손충당금 매년 2억↑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5029200" y="3538728"/>
            <a:ext cx="3383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70332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394960" y="3639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이자 부담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667512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8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연 16억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 31"/>
          <p:cNvSpPr/>
          <p:nvPr/>
        </p:nvSpPr>
        <p:spPr>
          <a:xfrm>
            <a:off x="5394960" y="39136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재고 차입 의존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3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삼일회계법인 AX </a:t>
            </a:r>
            <a:r>
              <a:rPr lang="en-US" altLang="ko-KR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Node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3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5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3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To-Be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포트폴리오 전체가 살아 있는 회사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53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1,955개 SKU × 570 거래처 × 10+ 채널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이 조합을 영업사원의 머리로 풀 수는 없습니다. 이건 AI Agent의 영역입니다.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920240" cy="2286000"/>
          </a:xfrm>
          <a:prstGeom prst="rect">
            <a:avLst/>
          </a:prstGeom>
          <a:solidFill>
            <a:srgbClr val="33333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92024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688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소진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33832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비인기 SKU가 맞는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거래처에 </a:t>
            </a:r>
            <a:r>
              <a:rPr lang="en-US" sz="10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연결</a:t>
            </a: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→ </a:t>
            </a:r>
            <a:r>
              <a:rPr lang="en-US" sz="10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재고보유일수</a:t>
            </a: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정상화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606040" y="2286000"/>
            <a:ext cx="1920240" cy="2286000"/>
          </a:xfrm>
          <a:prstGeom prst="rect">
            <a:avLst/>
          </a:prstGeom>
          <a:solidFill>
            <a:srgbClr val="33333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606040" y="2286000"/>
            <a:ext cx="192024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4688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차별화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43200" y="33832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"나라셀라와 거래하면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우리 매장에 맞는 와인을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추천받을 수 </a:t>
            </a:r>
            <a:r>
              <a:rPr lang="en-US" sz="10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있다</a:t>
            </a: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"</a:t>
            </a:r>
            <a:r>
              <a:rPr lang="ko-KR" alt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는 인식 확대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754880" y="2286000"/>
            <a:ext cx="1920240" cy="2286000"/>
          </a:xfrm>
          <a:prstGeom prst="rect">
            <a:avLst/>
          </a:prstGeom>
          <a:solidFill>
            <a:srgbClr val="33333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754880" y="2286000"/>
            <a:ext cx="192024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4688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9204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얼로케이션 선순환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92040" y="33832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"한국에서 잘 팔린다"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→ 와이너리 물량 확대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→ 포트폴리오 강화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903720" y="2286000"/>
            <a:ext cx="1920240" cy="2286000"/>
          </a:xfrm>
          <a:prstGeom prst="rect">
            <a:avLst/>
          </a:prstGeom>
          <a:solidFill>
            <a:srgbClr val="33333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6903720" y="2286000"/>
            <a:ext cx="192024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246888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상장 비전 달성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040880" y="33832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인기 와인 + Long Tail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→ </a:t>
            </a:r>
            <a:r>
              <a:rPr lang="en-US" sz="10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매출</a:t>
            </a:r>
            <a:r>
              <a:rPr lang="en-US" sz="10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2,500억 </a:t>
            </a:r>
            <a:r>
              <a:rPr lang="en-US" sz="10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경로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재활성화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삼일회계법인 AX </a:t>
            </a:r>
            <a:r>
              <a:rPr lang="en-US" altLang="ko-KR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Transformation Path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To-Be를 실현하기 위한 경로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724912"/>
            <a:ext cx="182880" cy="18288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337560"/>
            <a:ext cx="182880" cy="1828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1B316028-E7CA-5BCD-D924-7E7392EC91E6}"/>
              </a:ext>
            </a:extLst>
          </p:cNvPr>
          <p:cNvGrpSpPr/>
          <p:nvPr/>
        </p:nvGrpSpPr>
        <p:grpSpPr>
          <a:xfrm>
            <a:off x="2226564" y="3503726"/>
            <a:ext cx="4754880" cy="640080"/>
            <a:chOff x="2194560" y="3794760"/>
            <a:chExt cx="4754880" cy="640080"/>
          </a:xfrm>
        </p:grpSpPr>
        <p:sp>
          <p:nvSpPr>
            <p:cNvPr id="17" name="Shape 9"/>
            <p:cNvSpPr/>
            <p:nvPr/>
          </p:nvSpPr>
          <p:spPr>
            <a:xfrm>
              <a:off x="2194560" y="3794760"/>
              <a:ext cx="4754880" cy="640080"/>
            </a:xfrm>
            <a:prstGeom prst="rect">
              <a:avLst/>
            </a:prstGeom>
            <a:solidFill>
              <a:srgbClr val="2A9D8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8" name="Image 6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8880" y="3904488"/>
              <a:ext cx="411480" cy="411480"/>
            </a:xfrm>
            <a:prstGeom prst="rect">
              <a:avLst/>
            </a:prstGeom>
          </p:spPr>
        </p:pic>
        <p:sp>
          <p:nvSpPr>
            <p:cNvPr id="19" name="Text 10"/>
            <p:cNvSpPr/>
            <p:nvPr/>
          </p:nvSpPr>
          <p:spPr>
            <a:xfrm>
              <a:off x="3017520" y="379476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</a:rPr>
                <a:t>클라우드 인프라 + 자동화</a:t>
              </a:r>
              <a:endParaRPr lang="en-US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" name="Shape 3"/>
          <p:cNvSpPr/>
          <p:nvPr/>
        </p:nvSpPr>
        <p:spPr>
          <a:xfrm>
            <a:off x="1364152" y="960120"/>
            <a:ext cx="6400800" cy="640080"/>
          </a:xfrm>
          <a:prstGeom prst="rect">
            <a:avLst/>
          </a:prstGeom>
          <a:solidFill>
            <a:srgbClr val="E8530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2187112" y="960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포트폴리오</a:t>
            </a: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전체가</a:t>
            </a: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살아</a:t>
            </a: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있는</a:t>
            </a: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회사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112" y="1627632"/>
            <a:ext cx="182880" cy="182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38472" y="1828800"/>
            <a:ext cx="5852160" cy="640080"/>
          </a:xfrm>
          <a:prstGeom prst="rect">
            <a:avLst/>
          </a:prstGeom>
          <a:solidFill>
            <a:srgbClr val="C4420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2792" y="1938528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61432" y="1828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개인화된</a:t>
            </a: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추천</a:t>
            </a: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(AI Agent)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1912792" y="2697480"/>
            <a:ext cx="5303520" cy="640080"/>
          </a:xfrm>
          <a:prstGeom prst="rect">
            <a:avLst/>
          </a:prstGeom>
          <a:solidFill>
            <a:srgbClr val="3D5A8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7112" y="2807208"/>
            <a:ext cx="411480" cy="4114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735752" y="2697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양질의 데이터 축적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F4201DA-5F3D-6882-C958-F62C19193A5D}"/>
              </a:ext>
            </a:extLst>
          </p:cNvPr>
          <p:cNvGrpSpPr/>
          <p:nvPr/>
        </p:nvGrpSpPr>
        <p:grpSpPr>
          <a:xfrm>
            <a:off x="781176" y="4253534"/>
            <a:ext cx="7648260" cy="722558"/>
            <a:chOff x="489204" y="4114618"/>
            <a:chExt cx="8229600" cy="722558"/>
          </a:xfrm>
        </p:grpSpPr>
        <p:sp>
          <p:nvSpPr>
            <p:cNvPr id="20" name="Shape 11"/>
            <p:cNvSpPr/>
            <p:nvPr/>
          </p:nvSpPr>
          <p:spPr>
            <a:xfrm>
              <a:off x="489204" y="4114618"/>
              <a:ext cx="8229600" cy="685800"/>
            </a:xfrm>
            <a:prstGeom prst="rect">
              <a:avLst/>
            </a:prstGeom>
            <a:solidFill>
              <a:srgbClr val="FFF0E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Shape 12"/>
            <p:cNvSpPr/>
            <p:nvPr/>
          </p:nvSpPr>
          <p:spPr>
            <a:xfrm>
              <a:off x="493958" y="4117494"/>
              <a:ext cx="64008" cy="685800"/>
            </a:xfrm>
            <a:prstGeom prst="rect">
              <a:avLst/>
            </a:prstGeom>
            <a:solidFill>
              <a:srgbClr val="E8530E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Text 13"/>
            <p:cNvSpPr/>
            <p:nvPr/>
          </p:nvSpPr>
          <p:spPr>
            <a:xfrm>
              <a:off x="733806" y="4151376"/>
              <a:ext cx="77724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2D2D2D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그리고 이 전환 과정 </a:t>
              </a:r>
              <a:r>
                <a:rPr lang="en-US" sz="1100" b="1" dirty="0" err="1">
                  <a:solidFill>
                    <a:srgbClr val="2D2D2D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자체가</a:t>
              </a:r>
              <a:r>
                <a:rPr lang="en-US" sz="1100" b="1" dirty="0">
                  <a:solidFill>
                    <a:srgbClr val="2D2D2D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sz="1100" b="1" dirty="0" err="1">
                  <a:solidFill>
                    <a:srgbClr val="2D2D2D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현재의</a:t>
              </a:r>
              <a:r>
                <a:rPr lang="en-US" sz="1100" b="1" dirty="0">
                  <a:solidFill>
                    <a:srgbClr val="2D2D2D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sz="1100" b="1" dirty="0" err="1">
                  <a:solidFill>
                    <a:srgbClr val="2D2D2D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문제를</a:t>
              </a:r>
              <a:r>
                <a:rPr lang="en-US" sz="1100" b="1" dirty="0">
                  <a:solidFill>
                    <a:srgbClr val="2D2D2D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sz="1100" b="1" dirty="0" err="1">
                  <a:solidFill>
                    <a:srgbClr val="2D2D2D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해결</a:t>
              </a:r>
              <a:r>
                <a:rPr lang="ko-KR" altLang="en-US" sz="1100" b="1" dirty="0">
                  <a:solidFill>
                    <a:srgbClr val="2D2D2D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할 수 있는 기반이 됩니다</a:t>
              </a:r>
              <a:r>
                <a:rPr lang="en-US" sz="1100" b="1" dirty="0">
                  <a:solidFill>
                    <a:srgbClr val="2D2D2D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 </a:t>
              </a: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데이터를 쌓는 것이 환차손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대손을 줄이는 기반이 되고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자동화가 현금흐름을 개선하고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 AI</a:t>
              </a: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가 매출을 성장시킵니다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3" name="Text 1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7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7">
            <a:biLevel thresh="25000"/>
          </a:blip>
          <a:stretch>
            <a:fillRect/>
          </a:stretch>
        </p:blipFill>
        <p:spPr>
          <a:xfrm>
            <a:off x="1577340" y="1069848"/>
            <a:ext cx="411480" cy="411480"/>
          </a:xfrm>
          <a:prstGeom prst="rect">
            <a:avLst/>
          </a:prstGeom>
        </p:spPr>
      </p:pic>
      <p:pic>
        <p:nvPicPr>
          <p:cNvPr id="27" name="Image 5" descr="preencoded.png">
            <a:extLst>
              <a:ext uri="{FF2B5EF4-FFF2-40B4-BE49-F238E27FC236}">
                <a16:creationId xmlns:a16="http://schemas.microsoft.com/office/drawing/2014/main" id="{CFC37EAD-3C2F-391D-A72E-DC5AF7B22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496312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Roadmap Overview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기초공사 → 골조 → 인테리어. 순서를 지켜야 무너지지 않습니다.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5943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247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Phase 1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0~6개월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클라우드 전환 + 데이터 기반 구축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265176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59" y="2194560"/>
            <a:ext cx="2464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클</a:t>
            </a:r>
            <a:r>
              <a:rPr lang="en-US" sz="1000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라우드</a:t>
            </a: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ERP </a:t>
            </a:r>
            <a:r>
              <a:rPr lang="en-US" sz="1000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전환</a:t>
            </a: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</a:p>
          <a:p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     (계열사 8개 + 매장 연동)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SKU×채널×거래처</a:t>
            </a: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데이터 정제·축적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거래처</a:t>
            </a: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네트워크 맵핑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프로모션</a:t>
            </a: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ROI </a:t>
            </a:r>
            <a:r>
              <a:rPr lang="en-US" sz="1000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측정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3794760"/>
            <a:ext cx="2651760" cy="50292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864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통합 데이터 레이크 + 실시간 연동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2651760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37560" y="1051560"/>
            <a:ext cx="2651760" cy="5943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12471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8620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Phase 2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6~12개월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347472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자동화 + 시뮬레이션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3337560" y="2148840"/>
            <a:ext cx="265176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3474720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• 수요예측 모델 (SKU×채널 단위)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• 환리스크 자동 관리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• 거래처 신용스코링 + 연체 자동 경고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• 채널 배분 What-If 시뮬레이션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3337560" y="3794760"/>
            <a:ext cx="2651760" cy="5029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42900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재고회전율 개선 + 연 3~5억 절감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26517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217920" y="1051560"/>
            <a:ext cx="2651760" cy="59436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124712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6656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Phase 3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12~18개월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635508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AI 개인화 추천 Agent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6217920" y="2148840"/>
            <a:ext cx="265176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6355080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• 거래처별 맞춤 와인 추천 AI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• 영업사원 미팅 브리핑 자동 생성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• 거래처 매출 개선 컨설팅 데이터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• 신규 브랜드 론칭 최적화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217920" y="3794760"/>
            <a:ext cx="2651760" cy="50292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630936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"포트폴리오 전체가 살아 있는 회사"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삼일회계법인 AX </a:t>
            </a:r>
            <a:r>
              <a:rPr lang="en-US" altLang="ko-KR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Node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8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5A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Phase 1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클라우드 전환 + 데이터 기반 구축 (0~6개월)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4572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클라우드 ERP 전환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SAP ByDesign 또는 더존 클라우드 ERP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본사 + 물류 + 미국법인 + 직영매장 연결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3PL 연동 </a:t>
            </a:r>
            <a:r>
              <a:rPr lang="en-US" sz="1000" dirty="0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기반</a:t>
            </a: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마련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39319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663440" y="960120"/>
            <a:ext cx="3931920" cy="4572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430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SKU×채널×거래처 데이터 정제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4632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1,955개 SKU의 채널별 판매 속도 추적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체류 기간 측정 가능한 형태로 축적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Phase 2 수요예측, Phase 3 추천 AI의 원료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39319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57200" y="2788920"/>
            <a:ext cx="3931920" cy="4572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718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거래처 네트워크 맵핑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40080" y="3337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570개 거래처 관계 구조화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(도매상-업장, 상권, 체인)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CRM 또는 엑셀 수준으로 시작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   → Phase 2 신용스코링에 활용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663440" y="2788920"/>
            <a:ext cx="39319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663440" y="2788920"/>
            <a:ext cx="3931920" cy="4572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46320" y="29718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프로모션 ROI </a:t>
            </a:r>
            <a:r>
              <a:rPr lang="en-US" sz="1300" b="1" dirty="0" err="1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측정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846320" y="3337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Google CausalImpact 기반 인과추론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이마트 장터·편의점 행사의 순수 증분 효과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"데이터가 의사결정을 바꿀 수 있다"는 증거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      → Phase 2 투자 내부 설득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삼일회계법인 AX </a:t>
            </a:r>
            <a:r>
              <a:rPr lang="en-US" altLang="ko-KR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Node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9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Phase 2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자동화 + 시뮬레이션 (6~12개월)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457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5156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수요예측 모델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SKU×채널 단위 예측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시즌성, 환율, 트렌드 반영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목표: 재고보유일수 348일 → 250일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"덜 사자"가 아니라 "더 빨리 팔자"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39319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663440" y="960120"/>
            <a:ext cx="3931920" cy="457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25780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환리스크 자동 관리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4632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발주 시점 환율 자동 기록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결제까지 실시간 추적 + 브랜드별 실질 마진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임계치 초과 시 헤지 자동 추천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연 1~2억 절감 기대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39319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57200" y="2788920"/>
            <a:ext cx="3931920" cy="457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거래처 신용스코링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40080" y="3337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주문 패턴·결제 이력·연체 빈도 학습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연체 확률 높은 거래처 자동 플래그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대손충당금 증가 추세 억제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연 2~3억 절감 기대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663440" y="2788920"/>
            <a:ext cx="39319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663440" y="2788920"/>
            <a:ext cx="3931920" cy="457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718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채널 배분 What-If 시뮬레이션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846320" y="3337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마진 우선 vs 결품 최소화 vs 균등 배분 비교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과거 2년 데이터 기반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Phase 3 강화학습 전환의 디딤돌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채널 간 불균형 가시화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삼일회계법인 AX </a:t>
            </a:r>
            <a:r>
              <a:rPr lang="en-US" altLang="ko-KR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Node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10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Graphic 95">
            <a:extLst>
              <a:ext uri="{FF2B5EF4-FFF2-40B4-BE49-F238E27FC236}">
                <a16:creationId xmlns:a16="http://schemas.microsoft.com/office/drawing/2014/main" id="{CA1F768E-42C3-5C32-1C42-18AD44D780AB}"/>
              </a:ext>
            </a:extLst>
          </p:cNvPr>
          <p:cNvSpPr/>
          <p:nvPr/>
        </p:nvSpPr>
        <p:spPr>
          <a:xfrm>
            <a:off x="4846320" y="1097280"/>
            <a:ext cx="309868" cy="316183"/>
          </a:xfrm>
          <a:custGeom>
            <a:avLst/>
            <a:gdLst>
              <a:gd name="csX0" fmla="*/ 436854 w 436854"/>
              <a:gd name="csY0" fmla="*/ 253917 h 472344"/>
              <a:gd name="csX1" fmla="*/ 218427 w 436854"/>
              <a:gd name="csY1" fmla="*/ 472345 h 472344"/>
              <a:gd name="csX2" fmla="*/ 0 w 436854"/>
              <a:gd name="csY2" fmla="*/ 253917 h 472344"/>
              <a:gd name="csX3" fmla="*/ 212083 w 436854"/>
              <a:gd name="csY3" fmla="*/ 35662 h 472344"/>
              <a:gd name="csX4" fmla="*/ 191167 w 436854"/>
              <a:gd name="csY4" fmla="*/ 71838 h 472344"/>
              <a:gd name="csX5" fmla="*/ 34290 w 436854"/>
              <a:gd name="csY5" fmla="*/ 253917 h 472344"/>
              <a:gd name="csX6" fmla="*/ 218427 w 436854"/>
              <a:gd name="csY6" fmla="*/ 438055 h 472344"/>
              <a:gd name="csX7" fmla="*/ 402564 w 436854"/>
              <a:gd name="csY7" fmla="*/ 253917 h 472344"/>
              <a:gd name="csX8" fmla="*/ 293865 w 436854"/>
              <a:gd name="csY8" fmla="*/ 86068 h 472344"/>
              <a:gd name="csX9" fmla="*/ 315125 w 436854"/>
              <a:gd name="csY9" fmla="*/ 125845 h 472344"/>
              <a:gd name="csX10" fmla="*/ 284778 w 436854"/>
              <a:gd name="csY10" fmla="*/ 142132 h 472344"/>
              <a:gd name="csX11" fmla="*/ 235401 w 436854"/>
              <a:gd name="csY11" fmla="*/ 49378 h 472344"/>
              <a:gd name="csX12" fmla="*/ 328155 w 436854"/>
              <a:gd name="csY12" fmla="*/ 0 h 472344"/>
              <a:gd name="csX13" fmla="*/ 344271 w 436854"/>
              <a:gd name="csY13" fmla="*/ 30175 h 472344"/>
              <a:gd name="csX14" fmla="*/ 302609 w 436854"/>
              <a:gd name="csY14" fmla="*/ 52292 h 472344"/>
              <a:gd name="csX15" fmla="*/ 436854 w 436854"/>
              <a:gd name="csY15" fmla="*/ 253917 h 472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436854" h="472344">
                <a:moveTo>
                  <a:pt x="436854" y="253917"/>
                </a:moveTo>
                <a:cubicBezTo>
                  <a:pt x="436854" y="374275"/>
                  <a:pt x="338785" y="472345"/>
                  <a:pt x="218427" y="472345"/>
                </a:cubicBezTo>
                <a:cubicBezTo>
                  <a:pt x="98070" y="472345"/>
                  <a:pt x="0" y="374275"/>
                  <a:pt x="0" y="253917"/>
                </a:cubicBezTo>
                <a:cubicBezTo>
                  <a:pt x="0" y="135617"/>
                  <a:pt x="94641" y="38919"/>
                  <a:pt x="212083" y="35662"/>
                </a:cubicBezTo>
                <a:lnTo>
                  <a:pt x="191167" y="71838"/>
                </a:lnTo>
                <a:cubicBezTo>
                  <a:pt x="102527" y="85040"/>
                  <a:pt x="34290" y="161677"/>
                  <a:pt x="34290" y="253917"/>
                </a:cubicBezTo>
                <a:cubicBezTo>
                  <a:pt x="34290" y="355416"/>
                  <a:pt x="116929" y="438055"/>
                  <a:pt x="218427" y="438055"/>
                </a:cubicBezTo>
                <a:cubicBezTo>
                  <a:pt x="319926" y="438055"/>
                  <a:pt x="402564" y="355416"/>
                  <a:pt x="402564" y="253917"/>
                </a:cubicBezTo>
                <a:cubicBezTo>
                  <a:pt x="402564" y="179337"/>
                  <a:pt x="357987" y="114872"/>
                  <a:pt x="293865" y="86068"/>
                </a:cubicBezTo>
                <a:lnTo>
                  <a:pt x="315125" y="125845"/>
                </a:lnTo>
                <a:lnTo>
                  <a:pt x="284778" y="142132"/>
                </a:lnTo>
                <a:lnTo>
                  <a:pt x="235401" y="49378"/>
                </a:lnTo>
                <a:lnTo>
                  <a:pt x="328155" y="0"/>
                </a:lnTo>
                <a:lnTo>
                  <a:pt x="344271" y="30175"/>
                </a:lnTo>
                <a:lnTo>
                  <a:pt x="302609" y="52292"/>
                </a:lnTo>
                <a:cubicBezTo>
                  <a:pt x="381305" y="85382"/>
                  <a:pt x="436854" y="163220"/>
                  <a:pt x="436854" y="253917"/>
                </a:cubicBezTo>
                <a:close/>
              </a:path>
            </a:pathLst>
          </a:custGeom>
          <a:solidFill>
            <a:srgbClr val="2A9D8F"/>
          </a:solidFill>
          <a:ln w="16966" cap="flat">
            <a:noFill/>
            <a:prstDash val="solid"/>
            <a:miter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Graphic 75">
            <a:extLst>
              <a:ext uri="{FF2B5EF4-FFF2-40B4-BE49-F238E27FC236}">
                <a16:creationId xmlns:a16="http://schemas.microsoft.com/office/drawing/2014/main" id="{C4C9E7E4-3A08-5EC9-B716-16B913A220F5}"/>
              </a:ext>
            </a:extLst>
          </p:cNvPr>
          <p:cNvSpPr/>
          <p:nvPr/>
        </p:nvSpPr>
        <p:spPr>
          <a:xfrm>
            <a:off x="635623" y="1113872"/>
            <a:ext cx="314325" cy="274320"/>
          </a:xfrm>
          <a:custGeom>
            <a:avLst/>
            <a:gdLst>
              <a:gd name="csX0" fmla="*/ 445770 w 445770"/>
              <a:gd name="csY0" fmla="*/ 411480 h 445770"/>
              <a:gd name="csX1" fmla="*/ 425974 w 445770"/>
              <a:gd name="csY1" fmla="*/ 445770 h 445770"/>
              <a:gd name="csX2" fmla="*/ 0 w 445770"/>
              <a:gd name="csY2" fmla="*/ 445770 h 445770"/>
              <a:gd name="csX3" fmla="*/ 0 w 445770"/>
              <a:gd name="csY3" fmla="*/ 0 h 445770"/>
              <a:gd name="csX4" fmla="*/ 34290 w 445770"/>
              <a:gd name="csY4" fmla="*/ 0 h 445770"/>
              <a:gd name="csX5" fmla="*/ 34290 w 445770"/>
              <a:gd name="csY5" fmla="*/ 411480 h 445770"/>
              <a:gd name="csX6" fmla="*/ 445770 w 445770"/>
              <a:gd name="csY6" fmla="*/ 411480 h 445770"/>
              <a:gd name="csX7" fmla="*/ 120015 w 445770"/>
              <a:gd name="csY7" fmla="*/ 181288 h 445770"/>
              <a:gd name="csX8" fmla="*/ 120015 w 445770"/>
              <a:gd name="csY8" fmla="*/ 377190 h 445770"/>
              <a:gd name="csX9" fmla="*/ 154305 w 445770"/>
              <a:gd name="csY9" fmla="*/ 377190 h 445770"/>
              <a:gd name="csX10" fmla="*/ 154305 w 445770"/>
              <a:gd name="csY10" fmla="*/ 121412 h 445770"/>
              <a:gd name="csX11" fmla="*/ 120015 w 445770"/>
              <a:gd name="csY11" fmla="*/ 181288 h 445770"/>
              <a:gd name="csX12" fmla="*/ 325755 w 445770"/>
              <a:gd name="csY12" fmla="*/ 181310 h 445770"/>
              <a:gd name="csX13" fmla="*/ 325755 w 445770"/>
              <a:gd name="csY13" fmla="*/ 377190 h 445770"/>
              <a:gd name="csX14" fmla="*/ 360045 w 445770"/>
              <a:gd name="csY14" fmla="*/ 377190 h 445770"/>
              <a:gd name="csX15" fmla="*/ 360045 w 445770"/>
              <a:gd name="csY15" fmla="*/ 121435 h 445770"/>
              <a:gd name="csX16" fmla="*/ 325755 w 445770"/>
              <a:gd name="csY16" fmla="*/ 181310 h 445770"/>
              <a:gd name="csX17" fmla="*/ 189271 w 445770"/>
              <a:gd name="csY17" fmla="*/ 147219 h 445770"/>
              <a:gd name="csX18" fmla="*/ 189271 w 445770"/>
              <a:gd name="csY18" fmla="*/ 377190 h 445770"/>
              <a:gd name="csX19" fmla="*/ 223561 w 445770"/>
              <a:gd name="csY19" fmla="*/ 377190 h 445770"/>
              <a:gd name="csX20" fmla="*/ 223561 w 445770"/>
              <a:gd name="csY20" fmla="*/ 87343 h 445770"/>
              <a:gd name="csX21" fmla="*/ 189271 w 445770"/>
              <a:gd name="csY21" fmla="*/ 147219 h 445770"/>
              <a:gd name="csX22" fmla="*/ 257175 w 445770"/>
              <a:gd name="csY22" fmla="*/ 238242 h 445770"/>
              <a:gd name="csX23" fmla="*/ 257175 w 445770"/>
              <a:gd name="csY23" fmla="*/ 377190 h 445770"/>
              <a:gd name="csX24" fmla="*/ 291465 w 445770"/>
              <a:gd name="csY24" fmla="*/ 377190 h 445770"/>
              <a:gd name="csX25" fmla="*/ 291465 w 445770"/>
              <a:gd name="csY25" fmla="*/ 178366 h 445770"/>
              <a:gd name="csX26" fmla="*/ 257175 w 445770"/>
              <a:gd name="csY26" fmla="*/ 238242 h 445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445770" h="445770">
                <a:moveTo>
                  <a:pt x="445770" y="411480"/>
                </a:moveTo>
                <a:lnTo>
                  <a:pt x="425974" y="445770"/>
                </a:lnTo>
                <a:lnTo>
                  <a:pt x="0" y="445770"/>
                </a:lnTo>
                <a:lnTo>
                  <a:pt x="0" y="0"/>
                </a:lnTo>
                <a:lnTo>
                  <a:pt x="34290" y="0"/>
                </a:lnTo>
                <a:lnTo>
                  <a:pt x="34290" y="411480"/>
                </a:lnTo>
                <a:lnTo>
                  <a:pt x="445770" y="411480"/>
                </a:lnTo>
                <a:close/>
                <a:moveTo>
                  <a:pt x="120015" y="181288"/>
                </a:moveTo>
                <a:lnTo>
                  <a:pt x="120015" y="377190"/>
                </a:lnTo>
                <a:lnTo>
                  <a:pt x="154305" y="377190"/>
                </a:lnTo>
                <a:lnTo>
                  <a:pt x="154305" y="121412"/>
                </a:lnTo>
                <a:lnTo>
                  <a:pt x="120015" y="181288"/>
                </a:lnTo>
                <a:close/>
                <a:moveTo>
                  <a:pt x="325755" y="181310"/>
                </a:moveTo>
                <a:lnTo>
                  <a:pt x="325755" y="377190"/>
                </a:lnTo>
                <a:lnTo>
                  <a:pt x="360045" y="377190"/>
                </a:lnTo>
                <a:lnTo>
                  <a:pt x="360045" y="121435"/>
                </a:lnTo>
                <a:lnTo>
                  <a:pt x="325755" y="181310"/>
                </a:lnTo>
                <a:close/>
                <a:moveTo>
                  <a:pt x="189271" y="147219"/>
                </a:moveTo>
                <a:lnTo>
                  <a:pt x="189271" y="377190"/>
                </a:lnTo>
                <a:lnTo>
                  <a:pt x="223561" y="377190"/>
                </a:lnTo>
                <a:lnTo>
                  <a:pt x="223561" y="87343"/>
                </a:lnTo>
                <a:lnTo>
                  <a:pt x="189271" y="147219"/>
                </a:lnTo>
                <a:close/>
                <a:moveTo>
                  <a:pt x="257175" y="238242"/>
                </a:moveTo>
                <a:lnTo>
                  <a:pt x="257175" y="377190"/>
                </a:lnTo>
                <a:lnTo>
                  <a:pt x="291465" y="377190"/>
                </a:lnTo>
                <a:lnTo>
                  <a:pt x="291465" y="178366"/>
                </a:lnTo>
                <a:lnTo>
                  <a:pt x="257175" y="238242"/>
                </a:lnTo>
                <a:close/>
              </a:path>
            </a:pathLst>
          </a:custGeom>
          <a:solidFill>
            <a:srgbClr val="2A9D8F"/>
          </a:solidFill>
          <a:ln w="16966" cap="flat">
            <a:noFill/>
            <a:prstDash val="solid"/>
            <a:miter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Phase 3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AI 개인화 추천 Agent (12~18개월)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4572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5156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거래처별 맞춤 와인 추천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거래처 프로필(업종, 위치, 객단가, 주문이력)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     × 와인 프로필(가격대, 품종, 재고 수준)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1,955개 SKU </a:t>
            </a:r>
            <a:r>
              <a:rPr lang="en-US" sz="1000" dirty="0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전체가</a:t>
            </a: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추천</a:t>
            </a: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대상이</a:t>
            </a: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됨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Long Tail SKU에 판매 기회가 열림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39319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663440" y="960120"/>
            <a:ext cx="3931920" cy="4572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430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영업사원 미팅 브리핑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4632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방문 전 자동 생성: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     "유사 업종에서 이 가격대 화이트 +32%"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     "이 SKU 재고 체류 45일 초과"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     → 영업 시간을 관계 구축에 집중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39319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57200" y="2788920"/>
            <a:ext cx="3931920" cy="4572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05156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거래처 매출 개선 컨설팅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40080" y="3337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나라셀라 데이터 → 거래처 와인 리스트 분석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매출 개선을 위한 페어링·가격대 조합 제안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포지셔닝 </a:t>
            </a:r>
            <a:r>
              <a:rPr lang="en-US" sz="1000" dirty="0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전환</a:t>
            </a: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:</a:t>
            </a:r>
            <a:r>
              <a:rPr 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공급자</a:t>
            </a: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→ 거래처의 성장 파트너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663440" y="2788920"/>
            <a:ext cx="393192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663440" y="2788920"/>
            <a:ext cx="3931920" cy="4572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718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신규 브랜드 론칭 최적화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846320" y="3337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어떤 채널에 먼저 배치할 것인가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어떤 거래처에 시음회를 해야 성공 확률이 높은가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브랜드부문의 "감" → 데이터 기반 의사결정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 err="1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삼일회계법인</a:t>
            </a: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AX Node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11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D36735F-BFCB-FA06-5313-9E8A28D99266}"/>
              </a:ext>
            </a:extLst>
          </p:cNvPr>
          <p:cNvGrpSpPr/>
          <p:nvPr/>
        </p:nvGrpSpPr>
        <p:grpSpPr>
          <a:xfrm>
            <a:off x="619621" y="1097280"/>
            <a:ext cx="321424" cy="320040"/>
            <a:chOff x="4388185" y="2417127"/>
            <a:chExt cx="377825" cy="377825"/>
          </a:xfrm>
        </p:grpSpPr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BC8B3D14-17D6-87B8-92E3-911730EEAD42}"/>
                </a:ext>
              </a:extLst>
            </p:cNvPr>
            <p:cNvSpPr/>
            <p:nvPr/>
          </p:nvSpPr>
          <p:spPr>
            <a:xfrm>
              <a:off x="4388185" y="2417127"/>
              <a:ext cx="377825" cy="377825"/>
            </a:xfrm>
            <a:custGeom>
              <a:avLst/>
              <a:gdLst>
                <a:gd name="csX0" fmla="*/ 33338 w 377825"/>
                <a:gd name="csY0" fmla="*/ 0 h 377825"/>
                <a:gd name="csX1" fmla="*/ 0 w 377825"/>
                <a:gd name="csY1" fmla="*/ 0 h 377825"/>
                <a:gd name="csX2" fmla="*/ 0 w 377825"/>
                <a:gd name="csY2" fmla="*/ 377825 h 377825"/>
                <a:gd name="csX3" fmla="*/ 377825 w 377825"/>
                <a:gd name="csY3" fmla="*/ 377825 h 377825"/>
                <a:gd name="csX4" fmla="*/ 377825 w 377825"/>
                <a:gd name="csY4" fmla="*/ 344488 h 377825"/>
                <a:gd name="csX5" fmla="*/ 33338 w 377825"/>
                <a:gd name="csY5" fmla="*/ 344488 h 377825"/>
                <a:gd name="csX6" fmla="*/ 33338 w 377825"/>
                <a:gd name="csY6" fmla="*/ 0 h 377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77825" h="377825">
                  <a:moveTo>
                    <a:pt x="33338" y="0"/>
                  </a:moveTo>
                  <a:lnTo>
                    <a:pt x="0" y="0"/>
                  </a:lnTo>
                  <a:lnTo>
                    <a:pt x="0" y="377825"/>
                  </a:lnTo>
                  <a:lnTo>
                    <a:pt x="377825" y="377825"/>
                  </a:lnTo>
                  <a:lnTo>
                    <a:pt x="377825" y="344488"/>
                  </a:lnTo>
                  <a:lnTo>
                    <a:pt x="33338" y="344488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E8530E"/>
            </a:solidFill>
            <a:ln w="5556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8709288A-CE6A-E5C2-67BF-C4BF51EE122D}"/>
                </a:ext>
              </a:extLst>
            </p:cNvPr>
            <p:cNvSpPr/>
            <p:nvPr/>
          </p:nvSpPr>
          <p:spPr>
            <a:xfrm>
              <a:off x="4444586" y="2473106"/>
              <a:ext cx="321423" cy="255170"/>
            </a:xfrm>
            <a:custGeom>
              <a:avLst/>
              <a:gdLst>
                <a:gd name="csX0" fmla="*/ 82505 w 321423"/>
                <a:gd name="csY0" fmla="*/ 255171 h 255170"/>
                <a:gd name="csX1" fmla="*/ 239430 w 321423"/>
                <a:gd name="csY1" fmla="*/ 122210 h 255170"/>
                <a:gd name="csX2" fmla="*/ 291659 w 321423"/>
                <a:gd name="csY2" fmla="*/ 53351 h 255170"/>
                <a:gd name="csX3" fmla="*/ 321424 w 321423"/>
                <a:gd name="csY3" fmla="*/ 76815 h 255170"/>
                <a:gd name="csX4" fmla="*/ 312295 w 321423"/>
                <a:gd name="csY4" fmla="*/ 0 h 255170"/>
                <a:gd name="csX5" fmla="*/ 235479 w 321423"/>
                <a:gd name="csY5" fmla="*/ 9129 h 255170"/>
                <a:gd name="csX6" fmla="*/ 265444 w 321423"/>
                <a:gd name="csY6" fmla="*/ 32726 h 255170"/>
                <a:gd name="csX7" fmla="*/ 212515 w 321423"/>
                <a:gd name="csY7" fmla="*/ 102535 h 255170"/>
                <a:gd name="csX8" fmla="*/ 82505 w 321423"/>
                <a:gd name="csY8" fmla="*/ 221833 h 255170"/>
                <a:gd name="csX9" fmla="*/ 29654 w 321423"/>
                <a:gd name="csY9" fmla="*/ 181273 h 255170"/>
                <a:gd name="csX10" fmla="*/ 0 w 321423"/>
                <a:gd name="csY10" fmla="*/ 196497 h 255170"/>
                <a:gd name="csX11" fmla="*/ 82505 w 321423"/>
                <a:gd name="csY11" fmla="*/ 255171 h 255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21423" h="255170">
                  <a:moveTo>
                    <a:pt x="82505" y="255171"/>
                  </a:moveTo>
                  <a:cubicBezTo>
                    <a:pt x="142251" y="255171"/>
                    <a:pt x="187285" y="193552"/>
                    <a:pt x="239430" y="122210"/>
                  </a:cubicBezTo>
                  <a:cubicBezTo>
                    <a:pt x="255976" y="99574"/>
                    <a:pt x="273095" y="76221"/>
                    <a:pt x="291659" y="53351"/>
                  </a:cubicBezTo>
                  <a:lnTo>
                    <a:pt x="321424" y="76815"/>
                  </a:lnTo>
                  <a:lnTo>
                    <a:pt x="312295" y="0"/>
                  </a:lnTo>
                  <a:lnTo>
                    <a:pt x="235479" y="9129"/>
                  </a:lnTo>
                  <a:lnTo>
                    <a:pt x="265444" y="32726"/>
                  </a:lnTo>
                  <a:cubicBezTo>
                    <a:pt x="246514" y="56113"/>
                    <a:pt x="229218" y="79693"/>
                    <a:pt x="212515" y="102535"/>
                  </a:cubicBezTo>
                  <a:cubicBezTo>
                    <a:pt x="165732" y="166554"/>
                    <a:pt x="125327" y="221833"/>
                    <a:pt x="82505" y="221833"/>
                  </a:cubicBezTo>
                  <a:cubicBezTo>
                    <a:pt x="51145" y="221833"/>
                    <a:pt x="29843" y="181662"/>
                    <a:pt x="29654" y="181273"/>
                  </a:cubicBezTo>
                  <a:lnTo>
                    <a:pt x="0" y="196497"/>
                  </a:lnTo>
                  <a:cubicBezTo>
                    <a:pt x="1233" y="198925"/>
                    <a:pt x="30715" y="255171"/>
                    <a:pt x="82505" y="255171"/>
                  </a:cubicBezTo>
                  <a:close/>
                </a:path>
              </a:pathLst>
            </a:custGeom>
            <a:solidFill>
              <a:srgbClr val="E8530E"/>
            </a:solidFill>
            <a:ln w="5556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C132671-046D-49B7-62EF-44903C9BAB74}"/>
              </a:ext>
            </a:extLst>
          </p:cNvPr>
          <p:cNvGrpSpPr/>
          <p:nvPr/>
        </p:nvGrpSpPr>
        <p:grpSpPr>
          <a:xfrm>
            <a:off x="656608" y="2930679"/>
            <a:ext cx="241264" cy="302537"/>
            <a:chOff x="4399756" y="2349500"/>
            <a:chExt cx="344487" cy="444500"/>
          </a:xfrm>
        </p:grpSpPr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B7AA7370-3D3A-028F-01BA-BB447566520D}"/>
                </a:ext>
              </a:extLst>
            </p:cNvPr>
            <p:cNvSpPr/>
            <p:nvPr/>
          </p:nvSpPr>
          <p:spPr>
            <a:xfrm>
              <a:off x="4399756" y="2349500"/>
              <a:ext cx="344487" cy="444500"/>
            </a:xfrm>
            <a:custGeom>
              <a:avLst/>
              <a:gdLst>
                <a:gd name="csX0" fmla="*/ 311150 w 344487"/>
                <a:gd name="csY0" fmla="*/ 411163 h 444500"/>
                <a:gd name="csX1" fmla="*/ 33338 w 344487"/>
                <a:gd name="csY1" fmla="*/ 411163 h 444500"/>
                <a:gd name="csX2" fmla="*/ 33338 w 344487"/>
                <a:gd name="csY2" fmla="*/ 66675 h 444500"/>
                <a:gd name="csX3" fmla="*/ 94456 w 344487"/>
                <a:gd name="csY3" fmla="*/ 66675 h 444500"/>
                <a:gd name="csX4" fmla="*/ 94456 w 344487"/>
                <a:gd name="csY4" fmla="*/ 100013 h 444500"/>
                <a:gd name="csX5" fmla="*/ 250031 w 344487"/>
                <a:gd name="csY5" fmla="*/ 100013 h 444500"/>
                <a:gd name="csX6" fmla="*/ 250031 w 344487"/>
                <a:gd name="csY6" fmla="*/ 66675 h 444500"/>
                <a:gd name="csX7" fmla="*/ 311150 w 344487"/>
                <a:gd name="csY7" fmla="*/ 66675 h 444500"/>
                <a:gd name="csX8" fmla="*/ 172244 w 344487"/>
                <a:gd name="csY8" fmla="*/ 22225 h 444500"/>
                <a:gd name="csX9" fmla="*/ 188913 w 344487"/>
                <a:gd name="csY9" fmla="*/ 38894 h 444500"/>
                <a:gd name="csX10" fmla="*/ 172244 w 344487"/>
                <a:gd name="csY10" fmla="*/ 55563 h 444500"/>
                <a:gd name="csX11" fmla="*/ 155575 w 344487"/>
                <a:gd name="csY11" fmla="*/ 38894 h 444500"/>
                <a:gd name="csX12" fmla="*/ 171695 w 344487"/>
                <a:gd name="csY12" fmla="*/ 22225 h 444500"/>
                <a:gd name="csX13" fmla="*/ 172244 w 344487"/>
                <a:gd name="csY13" fmla="*/ 22225 h 444500"/>
                <a:gd name="csX14" fmla="*/ 322263 w 344487"/>
                <a:gd name="csY14" fmla="*/ 33338 h 444500"/>
                <a:gd name="csX15" fmla="*/ 227806 w 344487"/>
                <a:gd name="csY15" fmla="*/ 33338 h 444500"/>
                <a:gd name="csX16" fmla="*/ 227806 w 344487"/>
                <a:gd name="csY16" fmla="*/ 22225 h 444500"/>
                <a:gd name="csX17" fmla="*/ 205581 w 344487"/>
                <a:gd name="csY17" fmla="*/ 0 h 444500"/>
                <a:gd name="csX18" fmla="*/ 138906 w 344487"/>
                <a:gd name="csY18" fmla="*/ 0 h 444500"/>
                <a:gd name="csX19" fmla="*/ 116681 w 344487"/>
                <a:gd name="csY19" fmla="*/ 22225 h 444500"/>
                <a:gd name="csX20" fmla="*/ 116681 w 344487"/>
                <a:gd name="csY20" fmla="*/ 33338 h 444500"/>
                <a:gd name="csX21" fmla="*/ 22225 w 344487"/>
                <a:gd name="csY21" fmla="*/ 33338 h 444500"/>
                <a:gd name="csX22" fmla="*/ 0 w 344487"/>
                <a:gd name="csY22" fmla="*/ 55563 h 444500"/>
                <a:gd name="csX23" fmla="*/ 0 w 344487"/>
                <a:gd name="csY23" fmla="*/ 422275 h 444500"/>
                <a:gd name="csX24" fmla="*/ 22225 w 344487"/>
                <a:gd name="csY24" fmla="*/ 444500 h 444500"/>
                <a:gd name="csX25" fmla="*/ 322263 w 344487"/>
                <a:gd name="csY25" fmla="*/ 444500 h 444500"/>
                <a:gd name="csX26" fmla="*/ 344488 w 344487"/>
                <a:gd name="csY26" fmla="*/ 422275 h 444500"/>
                <a:gd name="csX27" fmla="*/ 344488 w 344487"/>
                <a:gd name="csY27" fmla="*/ 55563 h 444500"/>
                <a:gd name="csX28" fmla="*/ 322263 w 344487"/>
                <a:gd name="csY28" fmla="*/ 33338 h 444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344487" h="444500">
                  <a:moveTo>
                    <a:pt x="311150" y="411163"/>
                  </a:moveTo>
                  <a:lnTo>
                    <a:pt x="33338" y="411163"/>
                  </a:lnTo>
                  <a:lnTo>
                    <a:pt x="33338" y="66675"/>
                  </a:lnTo>
                  <a:lnTo>
                    <a:pt x="94456" y="66675"/>
                  </a:lnTo>
                  <a:lnTo>
                    <a:pt x="94456" y="100013"/>
                  </a:lnTo>
                  <a:lnTo>
                    <a:pt x="250031" y="100013"/>
                  </a:lnTo>
                  <a:lnTo>
                    <a:pt x="250031" y="66675"/>
                  </a:lnTo>
                  <a:lnTo>
                    <a:pt x="311150" y="66675"/>
                  </a:lnTo>
                  <a:close/>
                  <a:moveTo>
                    <a:pt x="172244" y="22225"/>
                  </a:moveTo>
                  <a:cubicBezTo>
                    <a:pt x="181450" y="22225"/>
                    <a:pt x="188913" y="29688"/>
                    <a:pt x="188913" y="38894"/>
                  </a:cubicBezTo>
                  <a:cubicBezTo>
                    <a:pt x="188913" y="48100"/>
                    <a:pt x="181450" y="55563"/>
                    <a:pt x="172244" y="55563"/>
                  </a:cubicBezTo>
                  <a:cubicBezTo>
                    <a:pt x="163038" y="55563"/>
                    <a:pt x="155575" y="48100"/>
                    <a:pt x="155575" y="38894"/>
                  </a:cubicBezTo>
                  <a:cubicBezTo>
                    <a:pt x="155423" y="29839"/>
                    <a:pt x="162640" y="22377"/>
                    <a:pt x="171695" y="22225"/>
                  </a:cubicBezTo>
                  <a:cubicBezTo>
                    <a:pt x="171878" y="22222"/>
                    <a:pt x="172061" y="22222"/>
                    <a:pt x="172244" y="22225"/>
                  </a:cubicBezTo>
                  <a:close/>
                  <a:moveTo>
                    <a:pt x="322263" y="33338"/>
                  </a:moveTo>
                  <a:lnTo>
                    <a:pt x="227806" y="33338"/>
                  </a:lnTo>
                  <a:lnTo>
                    <a:pt x="227806" y="22225"/>
                  </a:lnTo>
                  <a:cubicBezTo>
                    <a:pt x="227806" y="9950"/>
                    <a:pt x="217856" y="0"/>
                    <a:pt x="205581" y="0"/>
                  </a:cubicBezTo>
                  <a:lnTo>
                    <a:pt x="138906" y="0"/>
                  </a:lnTo>
                  <a:cubicBezTo>
                    <a:pt x="126632" y="0"/>
                    <a:pt x="116681" y="9950"/>
                    <a:pt x="116681" y="22225"/>
                  </a:cubicBezTo>
                  <a:lnTo>
                    <a:pt x="116681" y="33338"/>
                  </a:lnTo>
                  <a:lnTo>
                    <a:pt x="22225" y="33338"/>
                  </a:lnTo>
                  <a:cubicBezTo>
                    <a:pt x="9951" y="33338"/>
                    <a:pt x="0" y="43288"/>
                    <a:pt x="0" y="55563"/>
                  </a:cubicBezTo>
                  <a:lnTo>
                    <a:pt x="0" y="422275"/>
                  </a:lnTo>
                  <a:cubicBezTo>
                    <a:pt x="0" y="434549"/>
                    <a:pt x="9951" y="444500"/>
                    <a:pt x="22225" y="444500"/>
                  </a:cubicBezTo>
                  <a:lnTo>
                    <a:pt x="322263" y="444500"/>
                  </a:lnTo>
                  <a:cubicBezTo>
                    <a:pt x="334537" y="444500"/>
                    <a:pt x="344488" y="434549"/>
                    <a:pt x="344488" y="422275"/>
                  </a:cubicBezTo>
                  <a:lnTo>
                    <a:pt x="344488" y="55563"/>
                  </a:lnTo>
                  <a:cubicBezTo>
                    <a:pt x="344488" y="43288"/>
                    <a:pt x="334537" y="33338"/>
                    <a:pt x="322263" y="33338"/>
                  </a:cubicBezTo>
                  <a:close/>
                </a:path>
              </a:pathLst>
            </a:custGeom>
            <a:solidFill>
              <a:srgbClr val="E8530E"/>
            </a:solidFill>
            <a:ln w="5556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9D24907-D009-CBBB-E302-4441C14ECA00}"/>
                </a:ext>
              </a:extLst>
            </p:cNvPr>
            <p:cNvSpPr/>
            <p:nvPr/>
          </p:nvSpPr>
          <p:spPr>
            <a:xfrm>
              <a:off x="4583112" y="2493962"/>
              <a:ext cx="94456" cy="22225"/>
            </a:xfrm>
            <a:prstGeom prst="rect">
              <a:avLst/>
            </a:prstGeom>
            <a:solidFill>
              <a:srgbClr val="E8530E"/>
            </a:solidFill>
            <a:ln w="5556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152B74B-2943-B002-7381-F6FA5CF49F42}"/>
                </a:ext>
              </a:extLst>
            </p:cNvPr>
            <p:cNvSpPr/>
            <p:nvPr/>
          </p:nvSpPr>
          <p:spPr>
            <a:xfrm>
              <a:off x="4583112" y="2560637"/>
              <a:ext cx="94456" cy="22225"/>
            </a:xfrm>
            <a:prstGeom prst="rect">
              <a:avLst/>
            </a:prstGeom>
            <a:solidFill>
              <a:srgbClr val="E8530E"/>
            </a:solidFill>
            <a:ln w="5556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C164A5F-46A8-56A7-81C0-5C11982A279C}"/>
                </a:ext>
              </a:extLst>
            </p:cNvPr>
            <p:cNvSpPr/>
            <p:nvPr/>
          </p:nvSpPr>
          <p:spPr>
            <a:xfrm>
              <a:off x="4583112" y="2627312"/>
              <a:ext cx="94456" cy="22225"/>
            </a:xfrm>
            <a:prstGeom prst="rect">
              <a:avLst/>
            </a:prstGeom>
            <a:solidFill>
              <a:srgbClr val="E8530E"/>
            </a:solidFill>
            <a:ln w="5556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74921622-BC39-B1C1-4996-A38BC27A9E41}"/>
                </a:ext>
              </a:extLst>
            </p:cNvPr>
            <p:cNvSpPr/>
            <p:nvPr/>
          </p:nvSpPr>
          <p:spPr>
            <a:xfrm>
              <a:off x="4583112" y="2693987"/>
              <a:ext cx="94456" cy="22225"/>
            </a:xfrm>
            <a:prstGeom prst="rect">
              <a:avLst/>
            </a:prstGeom>
            <a:solidFill>
              <a:srgbClr val="E8530E"/>
            </a:solidFill>
            <a:ln w="5556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E8459EBE-44BE-200B-093B-D23ADA70B9E8}"/>
                </a:ext>
              </a:extLst>
            </p:cNvPr>
            <p:cNvSpPr/>
            <p:nvPr/>
          </p:nvSpPr>
          <p:spPr>
            <a:xfrm>
              <a:off x="4470359" y="2470109"/>
              <a:ext cx="74375" cy="59929"/>
            </a:xfrm>
            <a:custGeom>
              <a:avLst/>
              <a:gdLst>
                <a:gd name="csX0" fmla="*/ 0 w 74375"/>
                <a:gd name="csY0" fmla="*/ 33854 h 59929"/>
                <a:gd name="csX1" fmla="*/ 11629 w 74375"/>
                <a:gd name="csY1" fmla="*/ 22225 h 59929"/>
                <a:gd name="csX2" fmla="*/ 26075 w 74375"/>
                <a:gd name="csY2" fmla="*/ 36671 h 59929"/>
                <a:gd name="csX3" fmla="*/ 62747 w 74375"/>
                <a:gd name="csY3" fmla="*/ 0 h 59929"/>
                <a:gd name="csX4" fmla="*/ 74376 w 74375"/>
                <a:gd name="csY4" fmla="*/ 11629 h 59929"/>
                <a:gd name="csX5" fmla="*/ 26075 w 74375"/>
                <a:gd name="csY5" fmla="*/ 59930 h 59929"/>
                <a:gd name="csX6" fmla="*/ 0 w 74375"/>
                <a:gd name="csY6" fmla="*/ 33854 h 59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4375" h="59929">
                  <a:moveTo>
                    <a:pt x="0" y="33854"/>
                  </a:moveTo>
                  <a:lnTo>
                    <a:pt x="11629" y="22225"/>
                  </a:lnTo>
                  <a:lnTo>
                    <a:pt x="26075" y="36671"/>
                  </a:lnTo>
                  <a:lnTo>
                    <a:pt x="62747" y="0"/>
                  </a:lnTo>
                  <a:lnTo>
                    <a:pt x="74376" y="11629"/>
                  </a:lnTo>
                  <a:lnTo>
                    <a:pt x="26075" y="59930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E8530E"/>
            </a:solidFill>
            <a:ln w="5556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505D4451-24A3-6357-1C3E-D97ACB4CB9EB}"/>
                </a:ext>
              </a:extLst>
            </p:cNvPr>
            <p:cNvSpPr/>
            <p:nvPr/>
          </p:nvSpPr>
          <p:spPr>
            <a:xfrm>
              <a:off x="4470359" y="2536784"/>
              <a:ext cx="74375" cy="59929"/>
            </a:xfrm>
            <a:custGeom>
              <a:avLst/>
              <a:gdLst>
                <a:gd name="csX0" fmla="*/ 0 w 74375"/>
                <a:gd name="csY0" fmla="*/ 33854 h 59929"/>
                <a:gd name="csX1" fmla="*/ 11629 w 74375"/>
                <a:gd name="csY1" fmla="*/ 22225 h 59929"/>
                <a:gd name="csX2" fmla="*/ 26075 w 74375"/>
                <a:gd name="csY2" fmla="*/ 36671 h 59929"/>
                <a:gd name="csX3" fmla="*/ 62747 w 74375"/>
                <a:gd name="csY3" fmla="*/ 0 h 59929"/>
                <a:gd name="csX4" fmla="*/ 74376 w 74375"/>
                <a:gd name="csY4" fmla="*/ 11629 h 59929"/>
                <a:gd name="csX5" fmla="*/ 26075 w 74375"/>
                <a:gd name="csY5" fmla="*/ 59930 h 59929"/>
                <a:gd name="csX6" fmla="*/ 0 w 74375"/>
                <a:gd name="csY6" fmla="*/ 33854 h 59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4375" h="59929">
                  <a:moveTo>
                    <a:pt x="0" y="33854"/>
                  </a:moveTo>
                  <a:lnTo>
                    <a:pt x="11629" y="22225"/>
                  </a:lnTo>
                  <a:lnTo>
                    <a:pt x="26075" y="36671"/>
                  </a:lnTo>
                  <a:lnTo>
                    <a:pt x="62747" y="0"/>
                  </a:lnTo>
                  <a:lnTo>
                    <a:pt x="74376" y="11629"/>
                  </a:lnTo>
                  <a:lnTo>
                    <a:pt x="26075" y="59930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E8530E"/>
            </a:solidFill>
            <a:ln w="5556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5EB6AC35-3911-3B17-F2B5-AE9DA46404B8}"/>
                </a:ext>
              </a:extLst>
            </p:cNvPr>
            <p:cNvSpPr/>
            <p:nvPr/>
          </p:nvSpPr>
          <p:spPr>
            <a:xfrm>
              <a:off x="4470359" y="2603459"/>
              <a:ext cx="74375" cy="59929"/>
            </a:xfrm>
            <a:custGeom>
              <a:avLst/>
              <a:gdLst>
                <a:gd name="csX0" fmla="*/ 0 w 74375"/>
                <a:gd name="csY0" fmla="*/ 33854 h 59929"/>
                <a:gd name="csX1" fmla="*/ 11629 w 74375"/>
                <a:gd name="csY1" fmla="*/ 22225 h 59929"/>
                <a:gd name="csX2" fmla="*/ 26075 w 74375"/>
                <a:gd name="csY2" fmla="*/ 36671 h 59929"/>
                <a:gd name="csX3" fmla="*/ 62747 w 74375"/>
                <a:gd name="csY3" fmla="*/ 0 h 59929"/>
                <a:gd name="csX4" fmla="*/ 74376 w 74375"/>
                <a:gd name="csY4" fmla="*/ 11629 h 59929"/>
                <a:gd name="csX5" fmla="*/ 26075 w 74375"/>
                <a:gd name="csY5" fmla="*/ 59930 h 59929"/>
                <a:gd name="csX6" fmla="*/ 0 w 74375"/>
                <a:gd name="csY6" fmla="*/ 33854 h 59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4375" h="59929">
                  <a:moveTo>
                    <a:pt x="0" y="33854"/>
                  </a:moveTo>
                  <a:lnTo>
                    <a:pt x="11629" y="22225"/>
                  </a:lnTo>
                  <a:lnTo>
                    <a:pt x="26075" y="36671"/>
                  </a:lnTo>
                  <a:lnTo>
                    <a:pt x="62747" y="0"/>
                  </a:lnTo>
                  <a:lnTo>
                    <a:pt x="74376" y="11629"/>
                  </a:lnTo>
                  <a:lnTo>
                    <a:pt x="26075" y="59930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E8530E"/>
            </a:solidFill>
            <a:ln w="5556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ED1F926A-C006-8A83-DBC8-5D07031931EA}"/>
                </a:ext>
              </a:extLst>
            </p:cNvPr>
            <p:cNvSpPr/>
            <p:nvPr/>
          </p:nvSpPr>
          <p:spPr>
            <a:xfrm>
              <a:off x="4470359" y="2670134"/>
              <a:ext cx="74375" cy="59929"/>
            </a:xfrm>
            <a:custGeom>
              <a:avLst/>
              <a:gdLst>
                <a:gd name="csX0" fmla="*/ 0 w 74375"/>
                <a:gd name="csY0" fmla="*/ 33854 h 59929"/>
                <a:gd name="csX1" fmla="*/ 11629 w 74375"/>
                <a:gd name="csY1" fmla="*/ 22225 h 59929"/>
                <a:gd name="csX2" fmla="*/ 26075 w 74375"/>
                <a:gd name="csY2" fmla="*/ 36671 h 59929"/>
                <a:gd name="csX3" fmla="*/ 62747 w 74375"/>
                <a:gd name="csY3" fmla="*/ 0 h 59929"/>
                <a:gd name="csX4" fmla="*/ 74376 w 74375"/>
                <a:gd name="csY4" fmla="*/ 11629 h 59929"/>
                <a:gd name="csX5" fmla="*/ 26075 w 74375"/>
                <a:gd name="csY5" fmla="*/ 59930 h 59929"/>
                <a:gd name="csX6" fmla="*/ 0 w 74375"/>
                <a:gd name="csY6" fmla="*/ 33854 h 59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4375" h="59929">
                  <a:moveTo>
                    <a:pt x="0" y="33854"/>
                  </a:moveTo>
                  <a:lnTo>
                    <a:pt x="11629" y="22225"/>
                  </a:lnTo>
                  <a:lnTo>
                    <a:pt x="26075" y="36671"/>
                  </a:lnTo>
                  <a:lnTo>
                    <a:pt x="62747" y="0"/>
                  </a:lnTo>
                  <a:lnTo>
                    <a:pt x="74376" y="11629"/>
                  </a:lnTo>
                  <a:lnTo>
                    <a:pt x="26075" y="59930"/>
                  </a:lnTo>
                  <a:lnTo>
                    <a:pt x="0" y="33854"/>
                  </a:lnTo>
                  <a:close/>
                </a:path>
              </a:pathLst>
            </a:custGeom>
            <a:solidFill>
              <a:srgbClr val="E8530E"/>
            </a:solidFill>
            <a:ln w="5556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3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 Black" pitchFamily="34" charset="-120"/>
              </a:rPr>
              <a:t>Expected Impact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기대효과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422983"/>
              </p:ext>
            </p:extLst>
          </p:nvPr>
        </p:nvGraphicFramePr>
        <p:xfrm>
          <a:off x="457200" y="1051560"/>
          <a:ext cx="8229600" cy="24231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항목</a:t>
                      </a:r>
                      <a:endParaRPr lang="en-US" sz="11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현재</a:t>
                      </a:r>
                      <a:endParaRPr lang="en-US" sz="11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전환 후</a:t>
                      </a:r>
                      <a:endParaRPr lang="en-US" sz="11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효과</a:t>
                      </a:r>
                      <a:endParaRPr lang="en-US" sz="11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재고보유일수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348일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250일 (2022년 수준)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C550E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~100억 재고 감소, 이자 연 4~5억↓</a:t>
                      </a:r>
                      <a:endParaRPr lang="en-US" sz="1000" dirty="0">
                        <a:solidFill>
                          <a:srgbClr val="EC550E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환리스크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수동</a:t>
                      </a: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헤지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실시간 추적 + 자동 알림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C550E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연 1~2억 절감</a:t>
                      </a:r>
                      <a:endParaRPr lang="en-US" sz="1000" dirty="0">
                        <a:solidFill>
                          <a:srgbClr val="EC550E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매출채권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대손충당금 매년 2억↑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거래처 신용스코링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C550E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연 2~3억 절감</a:t>
                      </a:r>
                      <a:endParaRPr lang="en-US" sz="1000" dirty="0">
                        <a:solidFill>
                          <a:srgbClr val="EC550E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클라우드 전환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온프레미스 사일로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CapEx→OpEx, 통합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C550E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IT 관리비 ~30%↓</a:t>
                      </a:r>
                      <a:endParaRPr lang="en-US" sz="1000" dirty="0">
                        <a:solidFill>
                          <a:srgbClr val="EC550E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Long Tail 매출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사실상</a:t>
                      </a: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소진 어려움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AI Agent 매칭</a:t>
                      </a:r>
                      <a:endParaRPr 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C550E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Calibri" pitchFamily="34" charset="-120"/>
                        </a:rPr>
                        <a:t>전체 매출 5~10%↑</a:t>
                      </a:r>
                      <a:endParaRPr lang="en-US" sz="1000" dirty="0">
                        <a:solidFill>
                          <a:srgbClr val="EC550E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FFF0E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3611880"/>
            <a:ext cx="64008" cy="64008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영업손실 2.3억(2025.3Q) → 비용절감 효과만으로 흑자 전환 가능.
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장기적으로는 Long Tail 활성화를 통한 매출 성장이 진짜 가치.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벤치마크: 이마트 사이캐스트 예측오차 18%↓ | 유통업 AI 재고비용 20%↓ | 와인앱 개인화 장바구니 41%↑ | 애터미 클라우드 IT비용 30%↓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 err="1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삼일회계법인</a:t>
            </a: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altLang="ko-KR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AX Node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12</a:t>
            </a:r>
            <a:endParaRPr 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9024AB-4027-DC4B-84BD-1133F4B2424C}"/>
              </a:ext>
            </a:extLst>
          </p:cNvPr>
          <p:cNvSpPr/>
          <p:nvPr/>
        </p:nvSpPr>
        <p:spPr>
          <a:xfrm rot="19761718">
            <a:off x="80211" y="1070876"/>
            <a:ext cx="753979" cy="183147"/>
          </a:xfrm>
          <a:prstGeom prst="rect">
            <a:avLst/>
          </a:prstGeom>
          <a:solidFill>
            <a:srgbClr val="E853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illustrative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4864" cy="100584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나라셀라가 몬테스와 케이머스를 잘 파는 회사라는 건 이미 증명됐습니다.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하지만 인기 와인만으로는 상장 후 목표에 도달할 수 없습니다.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" cy="100584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1,955개 SKU 중 제자리를 찾지 못한 와인들이 있고,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재고보유일수는 2년 전보다 133일이나 늘었습니다.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이 와인들이 나쁜 와인이 아닙니다. </a:t>
            </a:r>
            <a:r>
              <a:rPr lang="en-US" sz="13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맞는</a:t>
            </a:r>
            <a:r>
              <a:rPr 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고객을</a:t>
            </a:r>
            <a:r>
              <a:rPr 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만나지 못했을 뿐입니다.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54864" cy="100584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클라우드로 연결하고, 데이터를 쌓고, 자동화로 정비하고,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AI Agent로 개인화 추천을 실현합니다.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그리고 그 과정 자체가 환차손을 줄이고, 대손을 방지하고, 현금흐름을 개선합니다.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디지털 </a:t>
            </a:r>
            <a:r>
              <a:rPr lang="en-US" sz="14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전환은</a:t>
            </a: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단순한 </a:t>
            </a:r>
            <a:r>
              <a:rPr lang="en-US" sz="14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기술</a:t>
            </a: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투자가 아닙니다.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1,955개 와</a:t>
            </a:r>
            <a:r>
              <a:rPr lang="ko-KR" alt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인이</a:t>
            </a: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제자리에서 문화적 가치를 전달하도록 하는</a:t>
            </a: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것입니다.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3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E853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삼일회계법인 AX </a:t>
            </a:r>
            <a:r>
              <a:rPr lang="en-US" altLang="ko-KR" sz="16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Node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삼일회계법인. All rights reserved.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1378</Words>
  <Application>Microsoft Office PowerPoint</Application>
  <PresentationFormat>화면 슬라이드 쇼(16:9)</PresentationFormat>
  <Paragraphs>285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Noto Sans KR</vt:lpstr>
      <vt:lpstr>Arial</vt:lpstr>
      <vt:lpstr>Arial Black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나라셀라 디지털 전환 제안서</dc:title>
  <dc:subject>PptxGenJS Presentation</dc:subject>
  <dc:creator>AX Division</dc:creator>
  <cp:lastModifiedBy>Sangho Eum (KR - ADVS)</cp:lastModifiedBy>
  <cp:revision>12</cp:revision>
  <dcterms:created xsi:type="dcterms:W3CDTF">2026-03-12T23:12:38Z</dcterms:created>
  <dcterms:modified xsi:type="dcterms:W3CDTF">2026-03-18T04:37:47Z</dcterms:modified>
</cp:coreProperties>
</file>